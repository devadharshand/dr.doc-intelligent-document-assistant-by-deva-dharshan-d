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3" dt="2026-09-25T07:43:18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Relationship Id="rId9" Type="http://schemas.openxmlformats.org/officeDocument/2006/relationships/image" Target="../media/image5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Relationship Id="rId9" Type="http://schemas.openxmlformats.org/officeDocument/2006/relationships/image" Target="../media/image5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svg"/><Relationship Id="rId7" Type="http://schemas.openxmlformats.org/officeDocument/2006/relationships/image" Target="../media/image65.svg"/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svg"/><Relationship Id="rId5" Type="http://schemas.openxmlformats.org/officeDocument/2006/relationships/image" Target="../media/image63.svg"/><Relationship Id="rId4" Type="http://schemas.openxmlformats.org/officeDocument/2006/relationships/image" Target="../media/image62.svg"/><Relationship Id="rId9" Type="http://schemas.openxmlformats.org/officeDocument/2006/relationships/image" Target="../media/image6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svg"/><Relationship Id="rId7" Type="http://schemas.openxmlformats.org/officeDocument/2006/relationships/image" Target="../media/image73.svg"/><Relationship Id="rId12" Type="http://schemas.openxmlformats.org/officeDocument/2006/relationships/image" Target="../media/image78.sv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svg"/><Relationship Id="rId11" Type="http://schemas.openxmlformats.org/officeDocument/2006/relationships/image" Target="../media/image77.svg"/><Relationship Id="rId5" Type="http://schemas.openxmlformats.org/officeDocument/2006/relationships/image" Target="../media/image71.svg"/><Relationship Id="rId10" Type="http://schemas.openxmlformats.org/officeDocument/2006/relationships/image" Target="../media/image76.svg"/><Relationship Id="rId4" Type="http://schemas.openxmlformats.org/officeDocument/2006/relationships/image" Target="../media/image70.svg"/><Relationship Id="rId9" Type="http://schemas.openxmlformats.org/officeDocument/2006/relationships/image" Target="../media/image7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13" Type="http://schemas.openxmlformats.org/officeDocument/2006/relationships/image" Target="../media/image90.svg"/><Relationship Id="rId3" Type="http://schemas.openxmlformats.org/officeDocument/2006/relationships/image" Target="../media/image80.svg"/><Relationship Id="rId7" Type="http://schemas.openxmlformats.org/officeDocument/2006/relationships/image" Target="../media/image84.svg"/><Relationship Id="rId12" Type="http://schemas.openxmlformats.org/officeDocument/2006/relationships/image" Target="../media/image89.svg"/><Relationship Id="rId17" Type="http://schemas.openxmlformats.org/officeDocument/2006/relationships/image" Target="../media/image94.svg"/><Relationship Id="rId2" Type="http://schemas.openxmlformats.org/officeDocument/2006/relationships/image" Target="../media/image79.svg"/><Relationship Id="rId16" Type="http://schemas.openxmlformats.org/officeDocument/2006/relationships/image" Target="../media/image9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svg"/><Relationship Id="rId11" Type="http://schemas.openxmlformats.org/officeDocument/2006/relationships/image" Target="../media/image88.svg"/><Relationship Id="rId5" Type="http://schemas.openxmlformats.org/officeDocument/2006/relationships/image" Target="../media/image82.svg"/><Relationship Id="rId15" Type="http://schemas.openxmlformats.org/officeDocument/2006/relationships/image" Target="../media/image92.svg"/><Relationship Id="rId10" Type="http://schemas.openxmlformats.org/officeDocument/2006/relationships/image" Target="../media/image87.svg"/><Relationship Id="rId4" Type="http://schemas.openxmlformats.org/officeDocument/2006/relationships/image" Target="../media/image81.svg"/><Relationship Id="rId9" Type="http://schemas.openxmlformats.org/officeDocument/2006/relationships/image" Target="../media/image86.svg"/><Relationship Id="rId14" Type="http://schemas.openxmlformats.org/officeDocument/2006/relationships/image" Target="../media/image9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96.svg"/><Relationship Id="rId7" Type="http://schemas.openxmlformats.org/officeDocument/2006/relationships/image" Target="../media/image100.svg"/><Relationship Id="rId2" Type="http://schemas.openxmlformats.org/officeDocument/2006/relationships/image" Target="../media/image9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svg"/><Relationship Id="rId5" Type="http://schemas.openxmlformats.org/officeDocument/2006/relationships/image" Target="../media/image98.svg"/><Relationship Id="rId4" Type="http://schemas.openxmlformats.org/officeDocument/2006/relationships/image" Target="../media/image9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3" Type="http://schemas.openxmlformats.org/officeDocument/2006/relationships/image" Target="../media/image103.svg"/><Relationship Id="rId7" Type="http://schemas.openxmlformats.org/officeDocument/2006/relationships/image" Target="../media/image107.svg"/><Relationship Id="rId2" Type="http://schemas.openxmlformats.org/officeDocument/2006/relationships/image" Target="../media/image10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svg"/><Relationship Id="rId5" Type="http://schemas.openxmlformats.org/officeDocument/2006/relationships/image" Target="../media/image105.svg"/><Relationship Id="rId4" Type="http://schemas.openxmlformats.org/officeDocument/2006/relationships/image" Target="../media/image104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svg"/><Relationship Id="rId3" Type="http://schemas.openxmlformats.org/officeDocument/2006/relationships/image" Target="../media/image110.png"/><Relationship Id="rId7" Type="http://schemas.openxmlformats.org/officeDocument/2006/relationships/image" Target="../media/image114.sv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svg"/><Relationship Id="rId5" Type="http://schemas.openxmlformats.org/officeDocument/2006/relationships/image" Target="../media/image112.svg"/><Relationship Id="rId4" Type="http://schemas.openxmlformats.org/officeDocument/2006/relationships/image" Target="../media/image1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svg"/><Relationship Id="rId2" Type="http://schemas.openxmlformats.org/officeDocument/2006/relationships/image" Target="../media/image1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svg"/><Relationship Id="rId5" Type="http://schemas.openxmlformats.org/officeDocument/2006/relationships/image" Target="../media/image119.svg"/><Relationship Id="rId4" Type="http://schemas.openxmlformats.org/officeDocument/2006/relationships/image" Target="../media/image1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svg"/><Relationship Id="rId7" Type="http://schemas.openxmlformats.org/officeDocument/2006/relationships/image" Target="../media/image126.svg"/><Relationship Id="rId2" Type="http://schemas.openxmlformats.org/officeDocument/2006/relationships/image" Target="../media/image1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svg"/><Relationship Id="rId5" Type="http://schemas.openxmlformats.org/officeDocument/2006/relationships/image" Target="../media/image124.svg"/><Relationship Id="rId4" Type="http://schemas.openxmlformats.org/officeDocument/2006/relationships/image" Target="../media/image12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svg"/><Relationship Id="rId3" Type="http://schemas.openxmlformats.org/officeDocument/2006/relationships/image" Target="../media/image128.png"/><Relationship Id="rId7" Type="http://schemas.openxmlformats.org/officeDocument/2006/relationships/image" Target="../media/image132.svg"/><Relationship Id="rId2" Type="http://schemas.openxmlformats.org/officeDocument/2006/relationships/image" Target="../media/image1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svg"/><Relationship Id="rId5" Type="http://schemas.openxmlformats.org/officeDocument/2006/relationships/image" Target="../media/image130.svg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50000">
                <a:srgbClr val="A855F7"/>
              </a:gs>
              <a:gs pos="100000">
                <a:srgbClr val="6366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4633" y="397147"/>
            <a:ext cx="102800" cy="1199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2060674"/>
            <a:ext cx="2908250" cy="257175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6205" y="2160686"/>
            <a:ext cx="57150" cy="5715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3326755"/>
            <a:ext cx="762000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366F1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" y="4349650"/>
            <a:ext cx="419100" cy="419100"/>
          </a:xfrm>
          <a:prstGeom prst="ellipse">
            <a:avLst/>
          </a:prstGeom>
          <a:solidFill>
            <a:srgbClr val="666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418" y="4475298"/>
            <a:ext cx="146629" cy="167576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0487025" y="3914775"/>
            <a:ext cx="762000" cy="762000"/>
          </a:xfrm>
          <a:prstGeom prst="ellipse">
            <a:avLst/>
          </a:prstGeom>
          <a:solidFill>
            <a:srgbClr val="666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5356" y="4143271"/>
            <a:ext cx="304792" cy="3047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9537" y="2108246"/>
            <a:ext cx="249682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A5B4FC"/>
                </a:solidFill>
                <a:latin typeface="Open Sans"/>
              </a:rPr>
              <a:t>Enterprise Document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88" y="2508286"/>
            <a:ext cx="2017910" cy="7715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585" b="1" i="0">
                <a:solidFill>
                  <a:srgbClr val="FFFFFF"/>
                </a:solidFill>
                <a:latin typeface="Inter 18pt"/>
              </a:rPr>
              <a:t>Dr.</a:t>
            </a:r>
            <a:r>
              <a:rPr sz="4585" b="1" i="0">
                <a:solidFill>
                  <a:srgbClr val="818CF8"/>
                </a:solidFill>
                <a:latin typeface="Inter 18pt"/>
              </a:rPr>
              <a:t> Doc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88" y="3669563"/>
            <a:ext cx="5707862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38" b="0" i="0">
                <a:solidFill>
                  <a:srgbClr val="C7D2FE"/>
                </a:solidFill>
                <a:latin typeface="Open Sans"/>
              </a:rPr>
              <a:t>RAG-Powered Chatbot for Enterprise Document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72" y="4366656"/>
            <a:ext cx="126188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E0E7FF"/>
                </a:solidFill>
                <a:latin typeface="Inter 18pt"/>
              </a:rPr>
              <a:t>Deva Dharshan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872" y="4579922"/>
            <a:ext cx="2239396" cy="1401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 dirty="0">
                <a:solidFill>
                  <a:srgbClr val="818CF8"/>
                </a:solidFill>
                <a:latin typeface="Open Sans"/>
              </a:rPr>
              <a:t>Employee ID: </a:t>
            </a:r>
            <a:r>
              <a:rPr lang="en-US" sz="911" b="0" i="0" dirty="0" err="1">
                <a:solidFill>
                  <a:srgbClr val="818CF8"/>
                </a:solidFill>
                <a:latin typeface="Open Sans"/>
              </a:rPr>
              <a:t>xxxxxx</a:t>
            </a:r>
            <a:r>
              <a:rPr sz="911" b="0" i="0" dirty="0">
                <a:solidFill>
                  <a:srgbClr val="818CF8"/>
                </a:solidFill>
                <a:latin typeface="Open Sans"/>
              </a:rPr>
              <a:t>  ·  Tata Technologies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88" y="6381590"/>
            <a:ext cx="100516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818CF8"/>
                </a:solidFill>
                <a:latin typeface="Open Sans"/>
              </a:rPr>
              <a:t>Tata Technologies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0138" y="6381590"/>
            <a:ext cx="113895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818CF8"/>
                </a:solidFill>
                <a:latin typeface="Open Sans"/>
              </a:rPr>
              <a:t>September 25,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76881" y="6395877"/>
            <a:ext cx="35762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6F68EA"/>
                </a:solidFill>
                <a:latin typeface="Inter 18pt"/>
              </a:rPr>
              <a:t>01 / 17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03D55DF-9CEE-B826-CA86-E63E14868E6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1765" r="-505" b="-1471"/>
          <a:stretch>
            <a:fillRect/>
          </a:stretch>
        </p:blipFill>
        <p:spPr>
          <a:xfrm>
            <a:off x="9847262" y="247015"/>
            <a:ext cx="2027584" cy="275832"/>
          </a:xfrm>
          <a:prstGeom prst="rect">
            <a:avLst/>
          </a:prstGeom>
        </p:spPr>
      </p:pic>
      <p:pic>
        <p:nvPicPr>
          <p:cNvPr id="24" name="Picture 23" descr="A black and white logo&#10;&#10;AI-generated content may be incorrect.">
            <a:extLst>
              <a:ext uri="{FF2B5EF4-FFF2-40B4-BE49-F238E27FC236}">
                <a16:creationId xmlns:a16="http://schemas.microsoft.com/office/drawing/2014/main" id="{0067828C-6E03-10A5-2638-5C91B0AD6F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010" b="51470"/>
          <a:stretch>
            <a:fillRect/>
          </a:stretch>
        </p:blipFill>
        <p:spPr>
          <a:xfrm>
            <a:off x="-38419" y="186054"/>
            <a:ext cx="1997018" cy="337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1000" y="323850"/>
            <a:ext cx="95250" cy="9525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952946"/>
            <a:ext cx="495299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366F1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1000" y="1628030"/>
            <a:ext cx="3667869" cy="4624238"/>
          </a:xfrm>
          <a:prstGeom prst="roundRect">
            <a:avLst>
              <a:gd name="adj" fmla="val 3116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0525" y="1637555"/>
            <a:ext cx="3648819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7171"/>
              </a:gs>
              <a:gs pos="100000">
                <a:srgbClr val="FBBF2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88615" y="1911697"/>
            <a:ext cx="495299" cy="495299"/>
          </a:xfrm>
          <a:prstGeom prst="ellipse">
            <a:avLst/>
          </a:prstGeom>
          <a:solidFill>
            <a:srgbClr val="B1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816" y="2048865"/>
            <a:ext cx="220855" cy="22085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88615" y="3982640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8615" y="4398466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8615" y="4814292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62139" y="1628030"/>
            <a:ext cx="3667869" cy="4624238"/>
          </a:xfrm>
          <a:prstGeom prst="roundRect">
            <a:avLst>
              <a:gd name="adj" fmla="val 3116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71664" y="1637555"/>
            <a:ext cx="3648819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BF24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69755" y="1911697"/>
            <a:ext cx="495299" cy="495299"/>
          </a:xfrm>
          <a:prstGeom prst="ellipse">
            <a:avLst/>
          </a:prstGeom>
          <a:solidFill>
            <a:srgbClr val="A7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6875" y="2062669"/>
            <a:ext cx="220839" cy="193248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4469755" y="4183707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69755" y="4418260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69755" y="4652813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43279" y="1628030"/>
            <a:ext cx="3667869" cy="4624238"/>
          </a:xfrm>
          <a:prstGeom prst="roundRect">
            <a:avLst>
              <a:gd name="adj" fmla="val 3116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52804" y="1637555"/>
            <a:ext cx="3648819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/>
              </a:gs>
              <a:gs pos="100000">
                <a:srgbClr val="6366F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50894" y="1911697"/>
            <a:ext cx="495299" cy="495299"/>
          </a:xfrm>
          <a:prstGeom prst="ellipse">
            <a:avLst/>
          </a:prstGeom>
          <a:solidFill>
            <a:srgbClr val="967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2410" y="2048865"/>
            <a:ext cx="151838" cy="220855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8350894" y="3982640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50894" y="4398466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50894" y="4814292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226" y="6487255"/>
            <a:ext cx="91415" cy="12188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407294" y="6481762"/>
            <a:ext cx="9525" cy="13335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6773" y="6487255"/>
            <a:ext cx="106651" cy="121887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349650" y="6481762"/>
            <a:ext cx="9525" cy="13335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9080" y="6487255"/>
            <a:ext cx="106651" cy="12188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37107" y="304792"/>
            <a:ext cx="131278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818CF8"/>
                </a:solidFill>
                <a:latin typeface="Inter 18pt"/>
              </a:rPr>
              <a:t>Tata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2873" y="304792"/>
            <a:ext cx="33783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2" b="0" i="0">
                <a:solidFill>
                  <a:srgbClr val="736BEA"/>
                </a:solidFill>
                <a:latin typeface="Inter 18pt"/>
              </a:rPr>
              <a:t>02 / 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990" y="489483"/>
            <a:ext cx="2046633" cy="4000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1" b="1" i="0">
                <a:solidFill>
                  <a:srgbClr val="E0E7FF"/>
                </a:solidFill>
                <a:latin typeface="Inter 18pt"/>
              </a:rPr>
              <a:t>The Problem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990" y="1088055"/>
            <a:ext cx="7506702" cy="4509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C7D2FE"/>
                </a:solidFill>
                <a:latin typeface="Open Sans"/>
              </a:rPr>
              <a:t>Every day, knowledge workers lose hours searching through documents — the cost is missed insights and delayed decisions.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600" y="2559333"/>
            <a:ext cx="794573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0E7FF"/>
                </a:solidFill>
                <a:latin typeface="Inter 18pt"/>
              </a:rPr>
              <a:t>Time Lost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600" y="2805042"/>
            <a:ext cx="1696895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183" b="1" i="0">
                <a:solidFill>
                  <a:srgbClr val="F87171"/>
                </a:solidFill>
                <a:latin typeface="Inter 18pt"/>
              </a:rPr>
              <a:t>Hours Daily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8600" y="3218327"/>
            <a:ext cx="3224429" cy="5830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C7D2FE"/>
                </a:solidFill>
                <a:latin typeface="Open Sans"/>
              </a:rPr>
              <a:t>Organizations manage vast volumes of PDFs, Word documents, and text files — finding a single answer demands searching across dozens of files manually.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683" y="3918546"/>
            <a:ext cx="2907879" cy="3527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A5B4FC"/>
                </a:solidFill>
                <a:latin typeface="Open Sans"/>
              </a:rPr>
              <a:t>Multiple formats: PDF, DOCX, TXT scattered across systems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683" y="4334361"/>
            <a:ext cx="3038994" cy="3527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A5B4FC"/>
                </a:solidFill>
                <a:latin typeface="Open Sans"/>
              </a:rPr>
              <a:t>No unified search — users read entire documents to find one fact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683" y="4750177"/>
            <a:ext cx="2607105" cy="3527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A5B4FC"/>
                </a:solidFill>
                <a:latin typeface="Open Sans"/>
              </a:rPr>
              <a:t>Repeated effort across teams with no shared knowledge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9643" y="2559333"/>
            <a:ext cx="987449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0E7FF"/>
                </a:solidFill>
                <a:latin typeface="Inter 18pt"/>
              </a:rPr>
              <a:t>Errors Made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9643" y="2805042"/>
            <a:ext cx="1725767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183" b="1" i="0">
                <a:solidFill>
                  <a:srgbClr val="FBBF24"/>
                </a:solidFill>
                <a:latin typeface="Inter 18pt"/>
              </a:rPr>
              <a:t>Error-Prone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9643" y="3218327"/>
            <a:ext cx="3170108" cy="7841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C7D2FE"/>
                </a:solidFill>
                <a:latin typeface="Open Sans"/>
              </a:rPr>
              <a:t>Manual document review is inherently error-prone — critical details are missed, outdated versions are referenced, and conclusions are drawn from incomplete information.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5726" y="4119608"/>
            <a:ext cx="306221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A5B4FC"/>
                </a:solidFill>
                <a:latin typeface="Open Sans"/>
              </a:rPr>
              <a:t>Decisions made on stale or partially-read documents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85726" y="4354155"/>
            <a:ext cx="304420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A5B4FC"/>
                </a:solidFill>
                <a:latin typeface="Open Sans"/>
              </a:rPr>
              <a:t>No audit trail linking answers back to source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85726" y="4588702"/>
            <a:ext cx="2744024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A5B4FC"/>
                </a:solidFill>
                <a:latin typeface="Open Sans"/>
              </a:rPr>
              <a:t>Cross-document inconsistencies go undetected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0686" y="2559333"/>
            <a:ext cx="1272002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0E7FF"/>
                </a:solidFill>
                <a:latin typeface="Inter 18pt"/>
              </a:rPr>
              <a:t>Insights Missed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0686" y="2805042"/>
            <a:ext cx="2445631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183" b="1" i="0">
                <a:solidFill>
                  <a:srgbClr val="A855F7"/>
                </a:solidFill>
                <a:latin typeface="Inter 18pt"/>
              </a:rPr>
              <a:t>Knowledge Silos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0686" y="3218327"/>
            <a:ext cx="2947020" cy="5830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C7D2FE"/>
                </a:solidFill>
                <a:latin typeface="Open Sans"/>
              </a:rPr>
              <a:t>Delayed decisions and knowledge silos prevent teams from leveraging the full intelligence embedded in their own document repositories.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6769" y="3918546"/>
            <a:ext cx="2666635" cy="3527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A5B4FC"/>
                </a:solidFill>
                <a:latin typeface="Open Sans"/>
              </a:rPr>
              <a:t>Insights buried in documents never surface to decision-makers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66769" y="4334361"/>
            <a:ext cx="2935114" cy="3527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A5B4FC"/>
                </a:solidFill>
                <a:latin typeface="Open Sans"/>
              </a:rPr>
              <a:t>Cross-document patterns invisible without manual synthesis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6769" y="4750177"/>
            <a:ext cx="277036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A5B4FC"/>
                </a:solidFill>
                <a:latin typeface="Open Sans"/>
              </a:rPr>
              <a:t>Delayed decisions erode competitive advantage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3746" y="6467313"/>
            <a:ext cx="169109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0" i="0">
                <a:solidFill>
                  <a:srgbClr val="818CF8"/>
                </a:solidFill>
                <a:latin typeface="Open Sans"/>
              </a:rPr>
              <a:t>Enterprise Document Challenge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51912" y="6467313"/>
            <a:ext cx="144523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0" i="0">
                <a:solidFill>
                  <a:srgbClr val="818CF8"/>
                </a:solidFill>
                <a:latin typeface="Open Sans"/>
              </a:rPr>
              <a:t>Deva Dharshan D | 931033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4219" y="6467313"/>
            <a:ext cx="106811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0" i="0">
                <a:solidFill>
                  <a:srgbClr val="818CF8"/>
                </a:solidFill>
                <a:latin typeface="Open Sans"/>
              </a:rPr>
              <a:t>September 25,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121866"/>
            <a:ext cx="1370558" cy="228897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073" y="1192911"/>
            <a:ext cx="98968" cy="8659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835348" y="1121866"/>
            <a:ext cx="1657350" cy="228897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6883" y="1192228"/>
            <a:ext cx="87971" cy="879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576488" y="1121866"/>
            <a:ext cx="1237803" cy="228897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7946" y="1186725"/>
            <a:ext cx="68040" cy="98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98082" y="1121866"/>
            <a:ext cx="1311622" cy="228897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4042" y="1192911"/>
            <a:ext cx="98968" cy="865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1000" y="3535263"/>
            <a:ext cx="1703337" cy="890438"/>
          </a:xfrm>
          <a:prstGeom prst="roundRect">
            <a:avLst>
              <a:gd name="adj" fmla="val 10696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1144" y="3636168"/>
            <a:ext cx="342900" cy="342900"/>
          </a:xfrm>
          <a:prstGeom prst="ellipse">
            <a:avLst/>
          </a:prstGeom>
          <a:solidFill>
            <a:srgbClr val="858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890" y="3731325"/>
            <a:ext cx="133346" cy="15239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12860" y="3913784"/>
            <a:ext cx="209544" cy="13334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351037" y="3535263"/>
            <a:ext cx="1703337" cy="890438"/>
          </a:xfrm>
          <a:prstGeom prst="roundRect">
            <a:avLst>
              <a:gd name="adj" fmla="val 10696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31182" y="3636168"/>
            <a:ext cx="342900" cy="342900"/>
          </a:xfrm>
          <a:prstGeom prst="ellipse">
            <a:avLst/>
          </a:prstGeom>
          <a:solidFill>
            <a:srgbClr val="858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26354" y="3739791"/>
            <a:ext cx="152396" cy="13546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2848" y="3913784"/>
            <a:ext cx="209544" cy="13334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321075" y="3535263"/>
            <a:ext cx="1703337" cy="890438"/>
          </a:xfrm>
          <a:prstGeom prst="roundRect">
            <a:avLst>
              <a:gd name="adj" fmla="val 10696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01220" y="3636168"/>
            <a:ext cx="342900" cy="342900"/>
          </a:xfrm>
          <a:prstGeom prst="ellipse">
            <a:avLst/>
          </a:prstGeom>
          <a:solidFill>
            <a:srgbClr val="65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05867" y="3731325"/>
            <a:ext cx="133346" cy="152396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52837" y="3913784"/>
            <a:ext cx="209544" cy="13334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91113" y="3791991"/>
            <a:ext cx="841771" cy="605432"/>
          </a:xfrm>
          <a:prstGeom prst="roundRect">
            <a:avLst>
              <a:gd name="adj" fmla="val 11012"/>
            </a:avLst>
          </a:prstGeom>
          <a:solidFill>
            <a:srgbClr val="1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2449" y="3866577"/>
            <a:ext cx="118757" cy="9500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193756" y="3791991"/>
            <a:ext cx="841771" cy="605432"/>
          </a:xfrm>
          <a:prstGeom prst="roundRect">
            <a:avLst>
              <a:gd name="adj" fmla="val 11012"/>
            </a:avLst>
          </a:prstGeom>
          <a:solidFill>
            <a:srgbClr val="1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62493" y="3862123"/>
            <a:ext cx="103916" cy="10391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096398" y="3791991"/>
            <a:ext cx="841771" cy="605432"/>
          </a:xfrm>
          <a:prstGeom prst="roundRect">
            <a:avLst>
              <a:gd name="adj" fmla="val 11012"/>
            </a:avLst>
          </a:prstGeom>
          <a:solidFill>
            <a:srgbClr val="1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57695" y="3867896"/>
            <a:ext cx="118772" cy="9237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999041" y="3791991"/>
            <a:ext cx="841771" cy="605432"/>
          </a:xfrm>
          <a:prstGeom prst="roundRect">
            <a:avLst>
              <a:gd name="adj" fmla="val 11012"/>
            </a:avLst>
          </a:prstGeom>
          <a:solidFill>
            <a:srgbClr val="1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78867" y="3854700"/>
            <a:ext cx="81648" cy="118761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69141" y="3913784"/>
            <a:ext cx="209544" cy="13334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107513" y="3535263"/>
            <a:ext cx="1703337" cy="890438"/>
          </a:xfrm>
          <a:prstGeom prst="roundRect">
            <a:avLst>
              <a:gd name="adj" fmla="val 10696"/>
            </a:avLst>
          </a:prstGeom>
          <a:solidFill>
            <a:srgbClr val="0F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787657" y="3636168"/>
            <a:ext cx="342900" cy="342900"/>
          </a:xfrm>
          <a:prstGeom prst="ellipse">
            <a:avLst/>
          </a:prstGeom>
          <a:solidFill>
            <a:srgbClr val="60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92160" y="3731325"/>
            <a:ext cx="133346" cy="15239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81000" y="6339929"/>
            <a:ext cx="11430000" cy="9525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0990" y="295267"/>
            <a:ext cx="2886746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10" b="1" i="0">
                <a:solidFill>
                  <a:srgbClr val="E0E7FF"/>
                </a:solidFill>
                <a:latin typeface="Inter 18pt"/>
              </a:rPr>
              <a:t>Dr.Doc — The 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0990" y="655125"/>
            <a:ext cx="6467759" cy="3686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1">
                <a:solidFill>
                  <a:srgbClr val="A5B4FC"/>
                </a:solidFill>
                <a:latin typeface="Open Sans"/>
              </a:rPr>
              <a:t>Dr.Doc eliminates document search friction by letting users ask questions in plain language and get grounded, cited answers instantly.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320" y="1164848"/>
            <a:ext cx="98611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C7D2FE"/>
                </a:solidFill>
                <a:latin typeface="Open Sans"/>
              </a:rPr>
              <a:t>Locally Hosted RAG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632" y="1164848"/>
            <a:ext cx="127289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C7D2FE"/>
                </a:solidFill>
                <a:latin typeface="Open Sans"/>
              </a:rPr>
              <a:t>Multi-Document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4729" y="1164848"/>
            <a:ext cx="85335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C7D2FE"/>
                </a:solidFill>
                <a:latin typeface="Open Sans"/>
              </a:rPr>
              <a:t>Voice Interaction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290" y="1164848"/>
            <a:ext cx="92717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C7D2FE"/>
                </a:solidFill>
                <a:latin typeface="Open Sans"/>
              </a:rPr>
              <a:t>Image-Based Q&amp;A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0990" y="1487797"/>
            <a:ext cx="134715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818CF8"/>
                </a:solidFill>
                <a:latin typeface="Inter 18pt"/>
              </a:rPr>
              <a:t>Architecture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95" y="4015133"/>
            <a:ext cx="24853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User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809" y="4192383"/>
            <a:ext cx="116365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5" b="0" i="0">
                <a:solidFill>
                  <a:srgbClr val="818CF8"/>
                </a:solidFill>
                <a:latin typeface="Open Sans"/>
              </a:rPr>
              <a:t>Natural language question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4884" y="4015133"/>
            <a:ext cx="37533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Web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35541" y="4192383"/>
            <a:ext cx="93402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5" b="0" i="0">
                <a:solidFill>
                  <a:srgbClr val="818CF8"/>
                </a:solidFill>
                <a:latin typeface="Open Sans"/>
              </a:rPr>
              <a:t>HTML / JS / Bootstrap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0211" y="4015133"/>
            <a:ext cx="76465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Flask 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3503" y="4192383"/>
            <a:ext cx="97822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5" b="0" i="0">
                <a:solidFill>
                  <a:srgbClr val="818CF8"/>
                </a:solidFill>
                <a:latin typeface="Open Sans"/>
              </a:rPr>
              <a:t>Python 3.13 · REST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3119" y="3572916"/>
            <a:ext cx="765284" cy="163825"/>
          </a:xfrm>
          <a:prstGeom prst="rect">
            <a:avLst/>
          </a:prstGeom>
          <a:solidFill>
            <a:srgbClr val="2E1065"/>
          </a:solidFill>
        </p:spPr>
        <p:txBody>
          <a:bodyPr wrap="none" lIns="60958" tIns="15239" rIns="60958" bIns="15239">
            <a:spAutoFit/>
          </a:bodyPr>
          <a:lstStyle/>
          <a:p>
            <a:pPr algn="l"/>
            <a:r>
              <a:rPr sz="676" b="1" i="0">
                <a:solidFill>
                  <a:srgbClr val="D8B4FE"/>
                </a:solidFill>
                <a:latin typeface="Open Sans"/>
              </a:rPr>
              <a:t>Azure OpenAI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7697" y="3986708"/>
            <a:ext cx="548269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32" b="1" i="0">
                <a:solidFill>
                  <a:srgbClr val="E0E7FF"/>
                </a:solidFill>
                <a:latin typeface="Open Sans"/>
              </a:rPr>
              <a:t>GPT-4.1-mini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6555" y="4124965"/>
            <a:ext cx="170552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91" b="0" i="0">
                <a:solidFill>
                  <a:srgbClr val="A78BFA"/>
                </a:solidFill>
                <a:latin typeface="Open Sans"/>
              </a:rPr>
              <a:t>Chat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7163" y="3986708"/>
            <a:ext cx="534577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32" b="1" i="0">
                <a:solidFill>
                  <a:srgbClr val="E0E7FF"/>
                </a:solidFill>
                <a:latin typeface="Open Sans"/>
              </a:rPr>
              <a:t>Embeddings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3711" y="4124965"/>
            <a:ext cx="521480" cy="209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91" b="0" i="0">
                <a:solidFill>
                  <a:srgbClr val="A78BFA"/>
                </a:solidFill>
                <a:latin typeface="Open Sans"/>
              </a:rPr>
              <a:t>text-embed-3-large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8890" y="3986708"/>
            <a:ext cx="536363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32" b="1" i="0">
                <a:solidFill>
                  <a:srgbClr val="E0E7FF"/>
                </a:solidFill>
                <a:latin typeface="Open Sans"/>
              </a:rPr>
              <a:t>GPT-4 Vision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8122" y="4124965"/>
            <a:ext cx="417750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91" b="0" i="0">
                <a:solidFill>
                  <a:srgbClr val="A78BFA"/>
                </a:solidFill>
                <a:latin typeface="Open Sans"/>
              </a:rPr>
              <a:t>Image Q&amp;A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8572" y="3986708"/>
            <a:ext cx="362238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32" b="1" i="0">
                <a:solidFill>
                  <a:srgbClr val="E0E7FF"/>
                </a:solidFill>
                <a:latin typeface="Open Sans"/>
              </a:rPr>
              <a:t>Whisper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8980" y="4124965"/>
            <a:ext cx="541274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91" b="0" i="0">
                <a:solidFill>
                  <a:srgbClr val="A78BFA"/>
                </a:solidFill>
                <a:latin typeface="Open Sans"/>
              </a:rPr>
              <a:t>Speech-to-Text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04205" y="4015133"/>
            <a:ext cx="30925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FAISS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9421" y="4192383"/>
            <a:ext cx="133897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5" b="0" i="0">
                <a:solidFill>
                  <a:srgbClr val="818CF8"/>
                </a:solidFill>
                <a:latin typeface="Open Sans"/>
              </a:rPr>
              <a:t>Vector Store · Cosine Similarity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0990" y="6486362"/>
            <a:ext cx="2377618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7370EA"/>
                </a:solidFill>
                <a:latin typeface="Open Sans"/>
              </a:rPr>
              <a:t>Tata Technologies | Deva Dharshan D · 931033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57841" y="6486362"/>
            <a:ext cx="35286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7370EA"/>
                </a:solidFill>
                <a:latin typeface="Open San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124396"/>
            <a:ext cx="533400" cy="285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259532"/>
            <a:ext cx="3723084" cy="2506860"/>
          </a:xfrm>
          <a:prstGeom prst="roundRect">
            <a:avLst>
              <a:gd name="adj" fmla="val 4559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3285" y="1436637"/>
            <a:ext cx="400050" cy="400050"/>
          </a:xfrm>
          <a:prstGeom prst="roundRect">
            <a:avLst>
              <a:gd name="adj" fmla="val 23809"/>
            </a:avLst>
          </a:prstGeom>
          <a:solidFill>
            <a:srgbClr val="8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529" y="1548964"/>
            <a:ext cx="131374" cy="1751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33564" y="1259532"/>
            <a:ext cx="3723084" cy="2506860"/>
          </a:xfrm>
          <a:prstGeom prst="roundRect">
            <a:avLst>
              <a:gd name="adj" fmla="val 4559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25850" y="1436637"/>
            <a:ext cx="400050" cy="400050"/>
          </a:xfrm>
          <a:prstGeom prst="roundRect">
            <a:avLst>
              <a:gd name="adj" fmla="val 23809"/>
            </a:avLst>
          </a:prstGeom>
          <a:solidFill>
            <a:srgbClr val="8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8099" y="1566481"/>
            <a:ext cx="175160" cy="1401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86129" y="1259532"/>
            <a:ext cx="3723084" cy="2506860"/>
          </a:xfrm>
          <a:prstGeom prst="roundRect">
            <a:avLst>
              <a:gd name="adj" fmla="val 4559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78415" y="1436637"/>
            <a:ext cx="400050" cy="400050"/>
          </a:xfrm>
          <a:prstGeom prst="roundRect">
            <a:avLst>
              <a:gd name="adj" fmla="val 23809"/>
            </a:avLst>
          </a:prstGeom>
          <a:solidFill>
            <a:srgbClr val="8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0302" y="1558703"/>
            <a:ext cx="155702" cy="15568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1000" y="3895873"/>
            <a:ext cx="3723084" cy="2506860"/>
          </a:xfrm>
          <a:prstGeom prst="roundRect">
            <a:avLst>
              <a:gd name="adj" fmla="val 4559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3285" y="4072979"/>
            <a:ext cx="400050" cy="400050"/>
          </a:xfrm>
          <a:prstGeom prst="roundRect">
            <a:avLst>
              <a:gd name="adj" fmla="val 23809"/>
            </a:avLst>
          </a:prstGeom>
          <a:solidFill>
            <a:srgbClr val="8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003" y="4185239"/>
            <a:ext cx="120426" cy="17516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33564" y="3895873"/>
            <a:ext cx="3723084" cy="2506860"/>
          </a:xfrm>
          <a:prstGeom prst="roundRect">
            <a:avLst>
              <a:gd name="adj" fmla="val 4559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25850" y="4072979"/>
            <a:ext cx="400050" cy="400050"/>
          </a:xfrm>
          <a:prstGeom prst="roundRect">
            <a:avLst>
              <a:gd name="adj" fmla="val 23809"/>
            </a:avLst>
          </a:prstGeom>
          <a:solidFill>
            <a:srgbClr val="8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8102" y="4196187"/>
            <a:ext cx="175166" cy="15327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86129" y="3895873"/>
            <a:ext cx="3723084" cy="2506860"/>
          </a:xfrm>
          <a:prstGeom prst="roundRect">
            <a:avLst>
              <a:gd name="adj" fmla="val 4559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78415" y="4072979"/>
            <a:ext cx="400050" cy="400050"/>
          </a:xfrm>
          <a:prstGeom prst="roundRect">
            <a:avLst>
              <a:gd name="adj" fmla="val 23809"/>
            </a:avLst>
          </a:prstGeom>
          <a:solidFill>
            <a:srgbClr val="8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0570" y="4185239"/>
            <a:ext cx="175166" cy="1751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0990" y="285742"/>
            <a:ext cx="3501540" cy="476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38" b="1" i="0">
                <a:solidFill>
                  <a:srgbClr val="E0E7FF"/>
                </a:solidFill>
                <a:latin typeface="Inter 18pt"/>
              </a:rPr>
              <a:t>Feature Highlights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990" y="813623"/>
            <a:ext cx="7341061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3" b="0" i="0">
                <a:solidFill>
                  <a:srgbClr val="C7D2FE"/>
                </a:solidFill>
                <a:latin typeface="Open Sans"/>
              </a:rPr>
              <a:t>Six integrated capabilities make Dr.Doc a complete enterprise document intelligence platform.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7608" y="1535719"/>
            <a:ext cx="148333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E0E7FF"/>
                </a:solidFill>
                <a:latin typeface="Inter 18pt"/>
              </a:rPr>
              <a:t>Document 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271" y="1920430"/>
            <a:ext cx="3275327" cy="5696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C7D2FE"/>
                </a:solidFill>
                <a:latin typeface="Open Sans"/>
              </a:rPr>
              <a:t>PDF, DOCX, and TXT files with drag-and-drop upload. Multi-file batch support with per-file progress tracking.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241" y="3400697"/>
            <a:ext cx="557109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85" b="1" i="0">
                <a:solidFill>
                  <a:srgbClr val="C7D2FE"/>
                </a:solidFill>
                <a:latin typeface="Open Sans"/>
              </a:rPr>
              <a:t>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0077" y="1535719"/>
            <a:ext cx="110219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E0E7FF"/>
                </a:solidFill>
                <a:latin typeface="Inter 18pt"/>
              </a:rPr>
              <a:t>Intelligent Q&amp;A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740" y="1920430"/>
            <a:ext cx="3299585" cy="375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C7D2FE"/>
                </a:solidFill>
                <a:latin typeface="Open Sans"/>
              </a:rPr>
              <a:t>RAG-powered answers grounded in your documents. Conversation memory preserved across sessions.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710" y="3400697"/>
            <a:ext cx="392955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85" b="1" i="0">
                <a:solidFill>
                  <a:srgbClr val="C7D2FE"/>
                </a:solidFill>
                <a:latin typeface="Open Sans"/>
              </a:rPr>
              <a:t>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2545" y="1535719"/>
            <a:ext cx="187399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E0E7FF"/>
                </a:solidFill>
                <a:latin typeface="Inter 18pt"/>
              </a:rPr>
              <a:t>Multi-Document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8208" y="1920430"/>
            <a:ext cx="3142427" cy="5696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C7D2FE"/>
                </a:solidFill>
                <a:latin typeface="Open Sans"/>
              </a:rPr>
              <a:t>Cross-document comparison and synthesis. Ask a single question across your entire knowledge base simultaneously.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8178" y="3400697"/>
            <a:ext cx="702957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85" b="1" i="0">
                <a:solidFill>
                  <a:srgbClr val="C7D2FE"/>
                </a:solidFill>
                <a:latin typeface="Open Sans"/>
              </a:rPr>
              <a:t>Cross-Doc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7608" y="4171994"/>
            <a:ext cx="151160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E0E7FF"/>
                </a:solidFill>
                <a:latin typeface="Inter 18pt"/>
              </a:rPr>
              <a:t>Voice Input &amp;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3271" y="4556705"/>
            <a:ext cx="3303306" cy="5696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C7D2FE"/>
                </a:solidFill>
                <a:latin typeface="Open Sans"/>
              </a:rPr>
              <a:t>Speech-to-text via Web Speech API or Azure Whisper. Text-to-speech on every response with configurable voice and speed.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3241" y="6036972"/>
            <a:ext cx="802520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85" b="1" i="0">
                <a:solidFill>
                  <a:srgbClr val="C7D2FE"/>
                </a:solidFill>
                <a:latin typeface="Open Sans"/>
              </a:rPr>
              <a:t>Multimodal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0077" y="4171994"/>
            <a:ext cx="81912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E0E7FF"/>
                </a:solidFill>
                <a:latin typeface="Inter 18pt"/>
              </a:rPr>
              <a:t>Image 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5740" y="4556705"/>
            <a:ext cx="3228894" cy="5696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C7D2FE"/>
                </a:solidFill>
                <a:latin typeface="Open Sans"/>
              </a:rPr>
              <a:t>GPT-4 Vision analyzes uploaded images in real time. Interpret diagrams, charts, handwritten notes, and photographs.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5710" y="6036972"/>
            <a:ext cx="500407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85" b="1" i="0">
                <a:solidFill>
                  <a:srgbClr val="C7D2FE"/>
                </a:solidFill>
                <a:latin typeface="Open Sans"/>
              </a:rPr>
              <a:t>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2545" y="4171994"/>
            <a:ext cx="92241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E0E7FF"/>
                </a:solidFill>
                <a:latin typeface="Inter 18pt"/>
              </a:rPr>
              <a:t>Chat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8208" y="4556705"/>
            <a:ext cx="3168471" cy="5696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C7D2FE"/>
                </a:solidFill>
                <a:latin typeface="Open Sans"/>
              </a:rPr>
              <a:t>Multiple sessions with rename and delete controls. Auto-pruned localStorage capped at 30 chats for consistent performance.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8178" y="6036972"/>
            <a:ext cx="629884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85" b="1" i="0">
                <a:solidFill>
                  <a:srgbClr val="C7D2FE"/>
                </a:solidFill>
                <a:latin typeface="Open Sans"/>
              </a:rPr>
              <a:t>Sessions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990" y="6486362"/>
            <a:ext cx="115681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736BEA"/>
                </a:solidFill>
                <a:latin typeface="Inter 18pt"/>
              </a:rPr>
              <a:t>Tata Technologies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458" y="6486362"/>
            <a:ext cx="38024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1" b="0" i="0">
                <a:solidFill>
                  <a:srgbClr val="736BEA"/>
                </a:solidFill>
                <a:latin typeface="Inter 18pt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1081682"/>
            <a:ext cx="11430000" cy="9525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1000" y="2834729"/>
            <a:ext cx="1730424" cy="1390650"/>
          </a:xfrm>
          <a:prstGeom prst="roundRect">
            <a:avLst>
              <a:gd name="adj" fmla="val 6849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2312" y="2950815"/>
            <a:ext cx="247649" cy="247649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5162" y="3251745"/>
            <a:ext cx="361950" cy="361950"/>
          </a:xfrm>
          <a:prstGeom prst="ellipse">
            <a:avLst/>
          </a:prstGeom>
          <a:solidFill>
            <a:srgbClr val="8A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1368" y="3367902"/>
            <a:ext cx="129477" cy="12947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3198" y="3476548"/>
            <a:ext cx="60955" cy="1066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320974" y="2834729"/>
            <a:ext cx="1730424" cy="1390650"/>
          </a:xfrm>
          <a:prstGeom prst="roundRect">
            <a:avLst>
              <a:gd name="adj" fmla="val 6849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62287" y="2950815"/>
            <a:ext cx="247649" cy="247649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05137" y="3251745"/>
            <a:ext cx="361950" cy="361950"/>
          </a:xfrm>
          <a:prstGeom prst="ellipse">
            <a:avLst/>
          </a:prstGeom>
          <a:solidFill>
            <a:srgbClr val="8A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7478" y="3367896"/>
            <a:ext cx="97107" cy="129477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3124" y="3476548"/>
            <a:ext cx="60955" cy="10668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60949" y="2834729"/>
            <a:ext cx="1730424" cy="1390650"/>
          </a:xfrm>
          <a:prstGeom prst="roundRect">
            <a:avLst>
              <a:gd name="adj" fmla="val 6849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02262" y="2950815"/>
            <a:ext cx="247649" cy="247649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45112" y="3251745"/>
            <a:ext cx="361950" cy="361950"/>
          </a:xfrm>
          <a:prstGeom prst="ellipse">
            <a:avLst/>
          </a:prstGeom>
          <a:solidFill>
            <a:srgbClr val="8A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1220" y="3367896"/>
            <a:ext cx="127586" cy="12947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3050" y="3476548"/>
            <a:ext cx="60955" cy="10668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00923" y="2834729"/>
            <a:ext cx="1730424" cy="1390650"/>
          </a:xfrm>
          <a:prstGeom prst="roundRect">
            <a:avLst>
              <a:gd name="adj" fmla="val 6849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42236" y="2950815"/>
            <a:ext cx="247649" cy="247649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85086" y="3251745"/>
            <a:ext cx="361950" cy="361950"/>
          </a:xfrm>
          <a:prstGeom prst="ellipse">
            <a:avLst/>
          </a:prstGeom>
          <a:solidFill>
            <a:srgbClr val="8A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1146" y="3367896"/>
            <a:ext cx="129477" cy="129477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2976" y="3476548"/>
            <a:ext cx="60955" cy="10668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140898" y="2834729"/>
            <a:ext cx="1730424" cy="1390650"/>
          </a:xfrm>
          <a:prstGeom prst="roundRect">
            <a:avLst>
              <a:gd name="adj" fmla="val 6849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882211" y="2950815"/>
            <a:ext cx="247649" cy="247649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25061" y="3251745"/>
            <a:ext cx="361950" cy="361950"/>
          </a:xfrm>
          <a:prstGeom prst="ellipse">
            <a:avLst/>
          </a:prstGeom>
          <a:solidFill>
            <a:srgbClr val="8A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49164" y="3367896"/>
            <a:ext cx="113292" cy="12947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2902" y="3476548"/>
            <a:ext cx="60955" cy="10668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080873" y="2899023"/>
            <a:ext cx="1730424" cy="1261913"/>
          </a:xfrm>
          <a:prstGeom prst="roundRect">
            <a:avLst>
              <a:gd name="adj" fmla="val 7548"/>
            </a:avLst>
          </a:prstGeom>
          <a:solidFill>
            <a:srgbClr val="1E1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822185" y="3015108"/>
            <a:ext cx="247649" cy="247649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765035" y="3316039"/>
            <a:ext cx="361950" cy="361950"/>
          </a:xfrm>
          <a:prstGeom prst="ellipse">
            <a:avLst/>
          </a:prstGeom>
          <a:solidFill>
            <a:srgbClr val="818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80998" y="3432188"/>
            <a:ext cx="129477" cy="12947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81000" y="5953571"/>
            <a:ext cx="3739008" cy="386357"/>
          </a:xfrm>
          <a:prstGeom prst="roundRect">
            <a:avLst>
              <a:gd name="adj" fmla="val 19722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223" y="6093317"/>
            <a:ext cx="99898" cy="105975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4226569" y="5953571"/>
            <a:ext cx="3739008" cy="386357"/>
          </a:xfrm>
          <a:prstGeom prst="roundRect">
            <a:avLst>
              <a:gd name="adj" fmla="val 19722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7374" y="6099977"/>
            <a:ext cx="106550" cy="93238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72139" y="5953571"/>
            <a:ext cx="3739008" cy="386357"/>
          </a:xfrm>
          <a:prstGeom prst="roundRect">
            <a:avLst>
              <a:gd name="adj" fmla="val 19722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8760" y="6099241"/>
            <a:ext cx="94718" cy="947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80990" y="295267"/>
            <a:ext cx="4355941" cy="2952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46" b="1" i="0">
                <a:solidFill>
                  <a:srgbClr val="E0E7FF"/>
                </a:solidFill>
                <a:latin typeface="Inter 18pt"/>
              </a:rPr>
              <a:t>Smart Document Processing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990" y="642921"/>
            <a:ext cx="7633501" cy="3622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A5B4FC"/>
                </a:solidFill>
                <a:latin typeface="Open Sans"/>
              </a:rPr>
              <a:t>Every uploaded document passes through a precise extraction and embedding pipeline that ensures high-quality, deduplicated vector retrieval.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485" y="3007889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latin typeface="Inter 18pt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1880" y="3657359"/>
            <a:ext cx="58845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Upload 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172" y="3842199"/>
            <a:ext cx="1194018" cy="262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0" i="0">
                <a:solidFill>
                  <a:srgbClr val="C7D2FE"/>
                </a:solidFill>
                <a:latin typeface="Open Sans"/>
              </a:rPr>
              <a:t>Drag-and-drop or browse; multiple files supported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52844" y="3007889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latin typeface="Inter 18pt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6885" y="3657359"/>
            <a:ext cx="79829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Text Extraction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2861" y="3842199"/>
            <a:ext cx="1526343" cy="262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0" i="0">
                <a:solidFill>
                  <a:srgbClr val="C7D2FE"/>
                </a:solidFill>
                <a:latin typeface="Open Sans"/>
              </a:rPr>
              <a:t>PDF, DOCX, TXT parsing including tables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1878" y="3007889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latin typeface="Inter 18pt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07444" y="3657359"/>
            <a:ext cx="123702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Token-Based Chunking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8246" y="3842199"/>
            <a:ext cx="1275425" cy="262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0" i="0">
                <a:solidFill>
                  <a:srgbClr val="C7D2FE"/>
                </a:solidFill>
                <a:latin typeface="Open Sans"/>
              </a:rPr>
              <a:t>tiktoken cl100k_base — 400 tokens, 50-token overlap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30018" y="3007889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latin typeface="Inter 18pt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9425" y="3657359"/>
            <a:ext cx="121291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Embedding Generation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6948" y="3842199"/>
            <a:ext cx="1358022" cy="262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0" i="0">
                <a:solidFill>
                  <a:srgbClr val="C7D2FE"/>
                </a:solidFill>
                <a:latin typeface="Open Sans"/>
              </a:rPr>
              <a:t>text-embedding-3-large, 3072 dims via Azure OpenAI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72920" y="3007889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latin typeface="Inter 18pt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4719" y="3657359"/>
            <a:ext cx="100233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FAISS Vector Index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9226" y="3842199"/>
            <a:ext cx="1333168" cy="262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0" i="0">
                <a:solidFill>
                  <a:srgbClr val="C7D2FE"/>
                </a:solidFill>
                <a:latin typeface="Open Sans"/>
              </a:rPr>
              <a:t>Cosine similarity indexing for fast retrieval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11358" y="3072182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latin typeface="Inter 18pt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58942" y="3721651"/>
            <a:ext cx="77373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E0E7FF"/>
                </a:solidFill>
                <a:latin typeface="Inter 18pt"/>
              </a:rPr>
              <a:t>Ready for Q&amp;A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92685" y="3906491"/>
            <a:ext cx="150610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40" b="0" i="0">
                <a:solidFill>
                  <a:srgbClr val="C7D2FE"/>
                </a:solidFill>
                <a:latin typeface="Open Sans"/>
              </a:rPr>
              <a:t>Fully searchable knowledge base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320" y="6016226"/>
            <a:ext cx="1072875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76" b="1" i="0">
                <a:solidFill>
                  <a:srgbClr val="E0E7FF"/>
                </a:solidFill>
                <a:latin typeface="Inter 18pt"/>
              </a:rPr>
              <a:t>SHA-256 Deduplication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320" y="6144661"/>
            <a:ext cx="320314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C7D2FE"/>
                </a:solidFill>
                <a:latin typeface="Open Sans"/>
              </a:rPr>
              <a:t>Normalized whitespace fingerprint prevents re-indexing identical content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4794" y="6016226"/>
            <a:ext cx="1032394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76" b="1" i="0">
                <a:solidFill>
                  <a:srgbClr val="E0E7FF"/>
                </a:solidFill>
                <a:latin typeface="Inter 18pt"/>
              </a:rPr>
              <a:t>Per-File Error Handling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94794" y="6144661"/>
            <a:ext cx="227939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C7D2FE"/>
                </a:solidFill>
                <a:latin typeface="Open Sans"/>
              </a:rPr>
              <a:t>Individual file failures do not abort batch processing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0268" y="6016226"/>
            <a:ext cx="1110825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76" b="1" i="0">
                <a:solidFill>
                  <a:srgbClr val="E0E7FF"/>
                </a:solidFill>
                <a:latin typeface="Inter 18pt"/>
              </a:rPr>
              <a:t>Multi-File Batch Support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40268" y="6144661"/>
            <a:ext cx="306444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C7D2FE"/>
                </a:solidFill>
                <a:latin typeface="Open Sans"/>
              </a:rPr>
              <a:t>Multiple documents processed and indexed in a single upload session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0990" y="6486362"/>
            <a:ext cx="348204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736BEA"/>
                </a:solidFill>
                <a:latin typeface="Open Sans"/>
              </a:rPr>
              <a:t>Tata Technologies — Dr.Doc RAG Chatbot | Deva Dharshan D (931033)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83588" y="6491125"/>
            <a:ext cx="32711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736BEA"/>
                </a:solidFill>
                <a:latin typeface="Inter 18pt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81000" y="942826"/>
            <a:ext cx="571500" cy="190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1533376"/>
            <a:ext cx="10668000" cy="1905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533376"/>
            <a:ext cx="10668000" cy="190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04875" y="1114276"/>
            <a:ext cx="571500" cy="571500"/>
          </a:xfrm>
          <a:prstGeom prst="ellipse">
            <a:avLst/>
          </a:prstGeom>
          <a:solidFill>
            <a:srgbClr val="7B7995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458" y="1313254"/>
            <a:ext cx="198105" cy="17336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2451" y="1490611"/>
            <a:ext cx="64751" cy="1133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1000" y="1777156"/>
            <a:ext cx="1619250" cy="1154310"/>
          </a:xfrm>
          <a:prstGeom prst="roundRect">
            <a:avLst>
              <a:gd name="adj" fmla="val 825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867025" y="1114276"/>
            <a:ext cx="571500" cy="571500"/>
          </a:xfrm>
          <a:prstGeom prst="ellipse">
            <a:avLst/>
          </a:prstGeom>
          <a:solidFill>
            <a:srgbClr val="7B7995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5959" y="1313254"/>
            <a:ext cx="173324" cy="17332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712" y="1480451"/>
            <a:ext cx="64751" cy="11333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343150" y="1777156"/>
            <a:ext cx="1619250" cy="1154310"/>
          </a:xfrm>
          <a:prstGeom prst="roundRect">
            <a:avLst>
              <a:gd name="adj" fmla="val 825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29175" y="1114276"/>
            <a:ext cx="571500" cy="571500"/>
          </a:xfrm>
          <a:prstGeom prst="ellipse">
            <a:avLst/>
          </a:prstGeom>
          <a:solidFill>
            <a:srgbClr val="736BE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5679" y="1300874"/>
            <a:ext cx="198075" cy="198114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7132" y="1480451"/>
            <a:ext cx="64751" cy="11333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305300" y="1777156"/>
            <a:ext cx="1619250" cy="1154310"/>
          </a:xfrm>
          <a:prstGeom prst="roundRect">
            <a:avLst>
              <a:gd name="adj" fmla="val 825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791325" y="1114276"/>
            <a:ext cx="571500" cy="571500"/>
          </a:xfrm>
          <a:prstGeom prst="ellipse">
            <a:avLst/>
          </a:prstGeom>
          <a:solidFill>
            <a:srgbClr val="7B7995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8785" y="1311887"/>
            <a:ext cx="176075" cy="17605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9073" y="1480451"/>
            <a:ext cx="64751" cy="11333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67450" y="1777156"/>
            <a:ext cx="1619250" cy="1154310"/>
          </a:xfrm>
          <a:prstGeom prst="roundRect">
            <a:avLst>
              <a:gd name="adj" fmla="val 825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53475" y="1114276"/>
            <a:ext cx="571500" cy="571500"/>
          </a:xfrm>
          <a:prstGeom prst="ellipse">
            <a:avLst/>
          </a:prstGeom>
          <a:solidFill>
            <a:srgbClr val="736BE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39881" y="1300874"/>
            <a:ext cx="198085" cy="19808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1015" y="1480451"/>
            <a:ext cx="64751" cy="11333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229600" y="1777156"/>
            <a:ext cx="1619250" cy="1154310"/>
          </a:xfrm>
          <a:prstGeom prst="roundRect">
            <a:avLst>
              <a:gd name="adj" fmla="val 825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715625" y="1114276"/>
            <a:ext cx="571500" cy="571500"/>
          </a:xfrm>
          <a:prstGeom prst="ellipse">
            <a:avLst/>
          </a:prstGeom>
          <a:solidFill>
            <a:srgbClr val="7B7995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1982" y="1311878"/>
            <a:ext cx="198085" cy="17607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191750" y="1777156"/>
            <a:ext cx="1619250" cy="1154310"/>
          </a:xfrm>
          <a:prstGeom prst="roundRect">
            <a:avLst>
              <a:gd name="adj" fmla="val 825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81000" y="5985718"/>
            <a:ext cx="11430000" cy="348555"/>
          </a:xfrm>
          <a:prstGeom prst="roundRect">
            <a:avLst>
              <a:gd name="adj" fmla="val 21861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1000" y="5985718"/>
            <a:ext cx="50800" cy="34855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485" y="6083643"/>
            <a:ext cx="152396" cy="1523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0990" y="295267"/>
            <a:ext cx="4245662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10" b="1" i="0">
                <a:solidFill>
                  <a:srgbClr val="E0E7FF"/>
                </a:solidFill>
                <a:latin typeface="Inter 18pt"/>
              </a:rPr>
              <a:t>Retrieval-Augmented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990" y="670453"/>
            <a:ext cx="759123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0" i="1">
                <a:solidFill>
                  <a:srgbClr val="A5B4FC"/>
                </a:solidFill>
                <a:latin typeface="Open Sans"/>
              </a:rPr>
              <a:t>RAG grounds every answer in actual document content — eliminating hallucination and providing transparent source attribution.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369" y="1878015"/>
            <a:ext cx="81645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E0E7FF"/>
                </a:solidFill>
                <a:latin typeface="Inter 18pt"/>
              </a:rPr>
              <a:t>User 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404" y="2066575"/>
            <a:ext cx="1306380" cy="2921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7" b="0" i="0">
                <a:solidFill>
                  <a:srgbClr val="A5B4FC"/>
                </a:solidFill>
                <a:latin typeface="Open Sans"/>
              </a:rPr>
              <a:t>Natural language input via chat interface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77736" y="2288961"/>
            <a:ext cx="833557" cy="284687"/>
          </a:xfrm>
          <a:prstGeom prst="rect">
            <a:avLst/>
          </a:prstGeom>
          <a:solidFill>
            <a:srgbClr val="312E81"/>
          </a:solidFill>
        </p:spPr>
        <p:txBody>
          <a:bodyPr wrap="none" lIns="76198" tIns="91437" rIns="76198" bIns="91437" anchor="t">
            <a:spAutoFit/>
          </a:bodyPr>
          <a:lstStyle/>
          <a:p>
            <a:r>
              <a:rPr lang="en-US" sz="650" b="1" dirty="0">
                <a:solidFill>
                  <a:srgbClr val="C7D2FE"/>
                </a:solidFill>
                <a:latin typeface="Inter 18pt"/>
              </a:rPr>
              <a:t>  </a:t>
            </a:r>
            <a:r>
              <a:rPr sz="650" b="1" i="0" dirty="0">
                <a:solidFill>
                  <a:srgbClr val="C7D2FE"/>
                </a:solidFill>
                <a:latin typeface="Inter 18pt"/>
              </a:rPr>
              <a:t>3072-dim vector</a:t>
            </a:r>
            <a:r>
              <a:rPr lang="en-US" sz="650" b="1" dirty="0">
                <a:solidFill>
                  <a:srgbClr val="C7D2FE"/>
                </a:solidFill>
                <a:latin typeface="Inter 18pt"/>
              </a:rPr>
              <a:t>    </a:t>
            </a:r>
            <a:endParaRPr sz="650" b="1" i="0" dirty="0">
              <a:solidFill>
                <a:srgbClr val="C7D2FE"/>
              </a:solidFill>
              <a:latin typeface="Inter 18p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80178" y="1878015"/>
            <a:ext cx="94503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E0E7FF"/>
                </a:solidFill>
                <a:latin typeface="Inter 18pt"/>
              </a:rPr>
              <a:t>Embed Question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70346" y="2066575"/>
            <a:ext cx="116469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97" b="0" i="0">
                <a:solidFill>
                  <a:srgbClr val="A5B4FC"/>
                </a:solidFill>
                <a:latin typeface="Open Sans"/>
              </a:rPr>
              <a:t>text-embedding-3-large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637" y="2356952"/>
            <a:ext cx="686081" cy="284687"/>
          </a:xfrm>
          <a:prstGeom prst="rect">
            <a:avLst/>
          </a:prstGeom>
          <a:solidFill>
            <a:srgbClr val="312E81"/>
          </a:solidFill>
        </p:spPr>
        <p:txBody>
          <a:bodyPr wrap="none" lIns="76198" tIns="91437" rIns="76198" bIns="91437" anchor="t">
            <a:spAutoFit/>
          </a:bodyPr>
          <a:lstStyle/>
          <a:p>
            <a:r>
              <a:rPr sz="650" b="1" i="0" dirty="0">
                <a:solidFill>
                  <a:srgbClr val="C7D2FE"/>
                </a:solidFill>
                <a:latin typeface="Inter 18pt"/>
              </a:rPr>
              <a:t>Top 8 chunks</a:t>
            </a:r>
            <a:r>
              <a:rPr lang="en-US" sz="650" b="1" dirty="0">
                <a:solidFill>
                  <a:srgbClr val="C7D2FE"/>
                </a:solidFill>
                <a:latin typeface="Inter 18pt"/>
              </a:rPr>
              <a:t>    </a:t>
            </a:r>
            <a:endParaRPr sz="654" b="1" i="0" dirty="0">
              <a:solidFill>
                <a:srgbClr val="C7D2FE"/>
              </a:solidFill>
              <a:latin typeface="Inter 18p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31574" y="1878015"/>
            <a:ext cx="76629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E0E7FF"/>
                </a:solidFill>
                <a:latin typeface="Inter 18pt"/>
              </a:rPr>
              <a:t>FAISS 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125" y="2066575"/>
            <a:ext cx="1159193" cy="2921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7" b="0" i="0">
                <a:solidFill>
                  <a:srgbClr val="A5B4FC"/>
                </a:solidFill>
                <a:latin typeface="Open Sans"/>
              </a:rPr>
              <a:t>Cosine similarity across vector index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1442" y="1878015"/>
            <a:ext cx="77091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E0E7FF"/>
                </a:solidFill>
                <a:latin typeface="Inter 18pt"/>
              </a:rPr>
              <a:t>Build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5052" y="2066575"/>
            <a:ext cx="1203691" cy="441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7" b="0" i="0">
                <a:solidFill>
                  <a:srgbClr val="A5B4FC"/>
                </a:solidFill>
                <a:latin typeface="Open Sans"/>
              </a:rPr>
              <a:t>Chunks assembled from multiple documents as context window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5798" y="2356952"/>
            <a:ext cx="692493" cy="284687"/>
          </a:xfrm>
          <a:prstGeom prst="rect">
            <a:avLst/>
          </a:prstGeom>
          <a:solidFill>
            <a:srgbClr val="312E81"/>
          </a:solidFill>
        </p:spPr>
        <p:txBody>
          <a:bodyPr wrap="none" lIns="76198" tIns="91437" rIns="76198" bIns="91437" anchor="t">
            <a:spAutoFit/>
          </a:bodyPr>
          <a:lstStyle/>
          <a:p>
            <a:r>
              <a:rPr sz="650" b="1" i="0" dirty="0">
                <a:solidFill>
                  <a:srgbClr val="C7D2FE"/>
                </a:solidFill>
                <a:latin typeface="Inter 18pt"/>
              </a:rPr>
              <a:t>Azure OpenAI</a:t>
            </a:r>
            <a:r>
              <a:rPr lang="en-US" sz="650" b="1" dirty="0">
                <a:solidFill>
                  <a:srgbClr val="C7D2FE"/>
                </a:solidFill>
                <a:latin typeface="Inter 18pt"/>
              </a:rPr>
              <a:t>   </a:t>
            </a:r>
            <a:endParaRPr sz="654" b="1" i="0" dirty="0">
              <a:solidFill>
                <a:srgbClr val="C7D2FE"/>
              </a:solidFill>
              <a:latin typeface="Inter 18p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71967" y="1878015"/>
            <a:ext cx="133391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E0E7FF"/>
                </a:solidFill>
                <a:latin typeface="Inter 18pt"/>
              </a:rPr>
              <a:t>LLM Generates Answer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6173" y="2066575"/>
            <a:ext cx="1145650" cy="2921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7" b="0" i="0">
                <a:solidFill>
                  <a:srgbClr val="A5B4FC"/>
                </a:solidFill>
                <a:latin typeface="Open Sans"/>
              </a:rPr>
              <a:t>GPT-4.1-mini produces response with citations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73080" y="1878015"/>
            <a:ext cx="85588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E0E7FF"/>
                </a:solidFill>
                <a:latin typeface="Inter 18pt"/>
              </a:rPr>
              <a:t>Display in Chat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08173" y="2066575"/>
            <a:ext cx="1385852" cy="2921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7" b="0" i="0">
                <a:solidFill>
                  <a:srgbClr val="A5B4FC"/>
                </a:solidFill>
                <a:latin typeface="Open Sans"/>
              </a:rPr>
              <a:t>Answer rendered with source attribution in chat UI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179" y="6078881"/>
            <a:ext cx="782727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E0E7FF"/>
                </a:solidFill>
                <a:latin typeface="Inter 18pt"/>
              </a:rPr>
              <a:t>Conversation Memory:</a:t>
            </a:r>
            <a:r>
              <a:rPr sz="888" b="0" i="0">
                <a:solidFill>
                  <a:srgbClr val="C7D2FE"/>
                </a:solidFill>
                <a:latin typeface="Open Sans"/>
              </a:rPr>
              <a:t> Last 6 messages sent to LLM alongside retrieved context — enabling multi-turn, coherent dialogue across the session.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0990" y="6495887"/>
            <a:ext cx="343099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736BEA"/>
                </a:solidFill>
                <a:latin typeface="Inter 18pt"/>
              </a:rPr>
              <a:t>Dr.Doc — Intelligent Document Assistant | Deva Dharshan D (931033)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2468" y="6495887"/>
            <a:ext cx="200823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736BEA"/>
                </a:solidFill>
                <a:latin typeface="Inter 18pt"/>
              </a:rPr>
              <a:t>Tata Technologies | September 25,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1000" y="1337816"/>
            <a:ext cx="11430000" cy="9525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10400" y="213880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B7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5075" y="2233611"/>
            <a:ext cx="115091" cy="1150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10400" y="2634108"/>
            <a:ext cx="4800600" cy="917674"/>
          </a:xfrm>
          <a:prstGeom prst="roundRect">
            <a:avLst>
              <a:gd name="adj" fmla="val 12455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7314" y="2817394"/>
            <a:ext cx="114308" cy="10003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187505" y="3030289"/>
            <a:ext cx="247649" cy="247649"/>
          </a:xfrm>
          <a:prstGeom prst="ellipse">
            <a:avLst/>
          </a:prstGeom>
          <a:solidFill>
            <a:srgbClr val="757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7774" y="3104477"/>
            <a:ext cx="86597" cy="989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10400" y="3704183"/>
            <a:ext cx="4800600" cy="1268164"/>
          </a:xfrm>
          <a:prstGeom prst="roundRect">
            <a:avLst>
              <a:gd name="adj" fmla="val 9013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7325" y="3891728"/>
            <a:ext cx="114297" cy="914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87505" y="4587775"/>
            <a:ext cx="932557" cy="222646"/>
          </a:xfrm>
          <a:prstGeom prst="roundRect">
            <a:avLst>
              <a:gd name="adj" fmla="val 25668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0638" y="4653292"/>
            <a:ext cx="88522" cy="9137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80933" y="4587775"/>
            <a:ext cx="932557" cy="222646"/>
          </a:xfrm>
          <a:prstGeom prst="roundRect">
            <a:avLst>
              <a:gd name="adj" fmla="val 25668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5463" y="4653292"/>
            <a:ext cx="68533" cy="9137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174360" y="4587775"/>
            <a:ext cx="932557" cy="222646"/>
          </a:xfrm>
          <a:prstGeom prst="roundRect">
            <a:avLst>
              <a:gd name="adj" fmla="val 25668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8866" y="4653292"/>
            <a:ext cx="68533" cy="9137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0400" y="5124747"/>
            <a:ext cx="4800600" cy="532209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10400" y="5124747"/>
            <a:ext cx="38100" cy="532209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94915" y="5314519"/>
            <a:ext cx="114297" cy="1524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0990" y="285742"/>
            <a:ext cx="5021037" cy="476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38" b="1" i="0">
                <a:solidFill>
                  <a:srgbClr val="E0E7FF"/>
                </a:solidFill>
                <a:latin typeface="Inter 18pt"/>
              </a:rPr>
              <a:t>Cross-Document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990" y="813623"/>
            <a:ext cx="7076749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A5B4FC"/>
                </a:solidFill>
                <a:latin typeface="Open Sans"/>
              </a:rPr>
              <a:t>Dr.Doc does not silo documents — it reasons across the entire knowledge base simultaneously, enabling synthesis no manual review could match.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1215" y="2219715"/>
            <a:ext cx="153274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A855F7"/>
                </a:solidFill>
                <a:latin typeface="Inter 18pt"/>
              </a:rPr>
              <a:t>Example Interaction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7820" y="2795964"/>
            <a:ext cx="74427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solidFill>
                  <a:srgbClr val="818CF8"/>
                </a:solidFill>
                <a:latin typeface="Open Sans"/>
              </a:rPr>
              <a:t>User 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6347" y="3030183"/>
            <a:ext cx="3229489" cy="348606"/>
          </a:xfrm>
          <a:prstGeom prst="rect">
            <a:avLst/>
          </a:prstGeom>
          <a:solidFill>
            <a:srgbClr val="312E81"/>
          </a:solidFill>
        </p:spPr>
        <p:txBody>
          <a:bodyPr wrap="none" lIns="114297" tIns="83817" rIns="114297" bIns="83817">
            <a:spAutoFit/>
          </a:bodyPr>
          <a:lstStyle/>
          <a:p>
            <a:pPr algn="l"/>
            <a:r>
              <a:rPr sz="1025" b="0" i="1">
                <a:solidFill>
                  <a:srgbClr val="E0E7FF"/>
                </a:solidFill>
                <a:latin typeface="Open Sans"/>
              </a:rPr>
              <a:t>"Compare the main ideas across all 3 documents"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7820" y="3866011"/>
            <a:ext cx="111246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solidFill>
                  <a:srgbClr val="34D399"/>
                </a:solidFill>
                <a:latin typeface="Open Sans"/>
              </a:rPr>
              <a:t>Dr.Doc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325" y="4100261"/>
            <a:ext cx="4385557" cy="375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C7D2FE"/>
                </a:solidFill>
                <a:latin typeface="Open Sans"/>
              </a:rPr>
              <a:t>Drawing from all indexed sources, here are the key themes and contrasts across your 3 documents...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7705" y="4627545"/>
            <a:ext cx="6088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A5B4FC"/>
                </a:solidFill>
                <a:latin typeface="Open Sans"/>
              </a:rPr>
              <a:t>Document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1108" y="4627545"/>
            <a:ext cx="6088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A5B4FC"/>
                </a:solidFill>
                <a:latin typeface="Open Sans"/>
              </a:rPr>
              <a:t>Document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4511" y="4627545"/>
            <a:ext cx="6088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A5B4FC"/>
                </a:solidFill>
                <a:latin typeface="Open Sans"/>
              </a:rPr>
              <a:t>Document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9640" y="5206472"/>
            <a:ext cx="3767489" cy="355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C7D2FE"/>
                </a:solidFill>
                <a:latin typeface="Open Sans"/>
              </a:rPr>
              <a:t>Response draws from</a:t>
            </a:r>
            <a:r>
              <a:rPr sz="927" b="1" i="0">
                <a:solidFill>
                  <a:srgbClr val="AF62F8"/>
                </a:solidFill>
                <a:latin typeface="Open Sans"/>
              </a:rPr>
              <a:t> every indexed source</a:t>
            </a:r>
            <a:r>
              <a:rPr sz="968" b="0" i="0">
                <a:solidFill>
                  <a:srgbClr val="C7D2FE"/>
                </a:solidFill>
                <a:latin typeface="Open Sans"/>
              </a:rPr>
              <a:t> — no manual file switching required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990" y="6457788"/>
            <a:ext cx="391958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736BEA"/>
                </a:solidFill>
                <a:latin typeface="Open Sans"/>
              </a:rPr>
              <a:t>Tata Technologies | Deva Dharshan D (931033) | September 25,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23761" y="6457788"/>
            <a:ext cx="38694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736BEA"/>
                </a:solidFill>
                <a:latin typeface="Open Sans"/>
              </a:rPr>
              <a:t>07 / 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0990" y="2833170"/>
            <a:ext cx="6400639" cy="21290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5526" indent="-205526" algn="l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>
                <a:srgbClr val="696CF2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C7D2FE"/>
                </a:solidFill>
                <a:latin typeface="Open Sans"/>
              </a:rPr>
              <a:t>Compares, contrasts, and </a:t>
            </a:r>
            <a:r>
              <a:rPr sz="1145" b="1" i="0">
                <a:solidFill>
                  <a:srgbClr val="E0E7FF"/>
                </a:solidFill>
                <a:latin typeface="Open Sans"/>
              </a:rPr>
              <a:t>synthesizes information</a:t>
            </a:r>
            <a:r>
              <a:rPr sz="1196" b="0" i="0">
                <a:solidFill>
                  <a:srgbClr val="C7D2FE"/>
                </a:solidFill>
                <a:latin typeface="Open Sans"/>
              </a:rPr>
              <a:t> across all uploaded documents simultaneously</a:t>
            </a:r>
          </a:p>
          <a:p>
            <a:pPr marL="205526" indent="-205526" algn="l">
              <a:lnSpc>
                <a:spcPts val="1735"/>
              </a:lnSpc>
              <a:spcBef>
                <a:spcPts val="719"/>
              </a:spcBef>
              <a:spcAft>
                <a:spcPts val="0"/>
              </a:spcAft>
              <a:buClr>
                <a:srgbClr val="696CF2"/>
              </a:buClr>
              <a:buSzPct val="100000"/>
              <a:buFont typeface="Open Sans" charset="0"/>
              <a:buChar char="●"/>
            </a:pPr>
            <a:r>
              <a:rPr sz="1145" b="1" i="0">
                <a:solidFill>
                  <a:srgbClr val="E0E7FF"/>
                </a:solidFill>
                <a:latin typeface="Open Sans"/>
              </a:rPr>
              <a:t>Dynamic sample prompts</a:t>
            </a:r>
            <a:r>
              <a:rPr sz="1196" b="0" i="0">
                <a:solidFill>
                  <a:srgbClr val="C7D2FE"/>
                </a:solidFill>
                <a:latin typeface="Open Sans"/>
              </a:rPr>
              <a:t> auto-generated from document vocabulary and detected topics</a:t>
            </a:r>
          </a:p>
          <a:p>
            <a:pPr marL="205526" indent="-205526" algn="l">
              <a:lnSpc>
                <a:spcPts val="1735"/>
              </a:lnSpc>
              <a:spcBef>
                <a:spcPts val="719"/>
              </a:spcBef>
              <a:spcAft>
                <a:spcPts val="0"/>
              </a:spcAft>
              <a:buClr>
                <a:srgbClr val="696CF2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C7D2FE"/>
                </a:solidFill>
                <a:latin typeface="Open Sans"/>
              </a:rPr>
              <a:t>System prompt instructs the LLM to reference </a:t>
            </a:r>
            <a:r>
              <a:rPr sz="1145" b="1" i="0">
                <a:solidFill>
                  <a:srgbClr val="E0E7FF"/>
                </a:solidFill>
                <a:latin typeface="Open Sans"/>
              </a:rPr>
              <a:t>ALL documents</a:t>
            </a:r>
            <a:r>
              <a:rPr sz="1196" b="0" i="0">
                <a:solidFill>
                  <a:srgbClr val="C7D2FE"/>
                </a:solidFill>
                <a:latin typeface="Open Sans"/>
              </a:rPr>
              <a:t> in the knowledge base — not just the most similar</a:t>
            </a:r>
          </a:p>
          <a:p>
            <a:pPr marL="205526" indent="-205526" algn="l">
              <a:lnSpc>
                <a:spcPts val="1735"/>
              </a:lnSpc>
              <a:spcBef>
                <a:spcPts val="719"/>
              </a:spcBef>
              <a:spcAft>
                <a:spcPts val="0"/>
              </a:spcAft>
              <a:buClr>
                <a:srgbClr val="696CF2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C7D2FE"/>
                </a:solidFill>
                <a:latin typeface="Open Sans"/>
              </a:rPr>
              <a:t>Instant cross-document intelligence — </a:t>
            </a:r>
            <a:r>
              <a:rPr sz="1145" b="1" i="0">
                <a:solidFill>
                  <a:srgbClr val="E0E7FF"/>
                </a:solidFill>
                <a:latin typeface="Open Sans"/>
              </a:rPr>
              <a:t>no switching between files</a:t>
            </a:r>
            <a:r>
              <a:rPr sz="1196" b="0" i="0">
                <a:solidFill>
                  <a:srgbClr val="C7D2FE"/>
                </a:solidFill>
                <a:latin typeface="Open Sans"/>
              </a:rPr>
              <a:t> or manual aggregation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81000" y="3048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421308"/>
            <a:ext cx="11430000" cy="9525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1000" y="1552723"/>
            <a:ext cx="5600700" cy="4854029"/>
          </a:xfrm>
          <a:prstGeom prst="roundRect">
            <a:avLst>
              <a:gd name="adj" fmla="val 2354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19125" y="1775519"/>
            <a:ext cx="457200" cy="457200"/>
          </a:xfrm>
          <a:prstGeom prst="ellipse">
            <a:avLst/>
          </a:prstGeom>
          <a:solidFill>
            <a:srgbClr val="8280B2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2221" y="1908821"/>
            <a:ext cx="130965" cy="1904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9125" y="2385119"/>
            <a:ext cx="5124450" cy="817066"/>
          </a:xfrm>
          <a:prstGeom prst="roundRect">
            <a:avLst>
              <a:gd name="adj" fmla="val 9326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2385119"/>
            <a:ext cx="38100" cy="81706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751" y="2506798"/>
            <a:ext cx="152396" cy="1523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51470" y="2888158"/>
            <a:ext cx="1385589" cy="207466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52376" y="2963316"/>
            <a:ext cx="57150" cy="5715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125" y="3316485"/>
            <a:ext cx="5124450" cy="541139"/>
          </a:xfrm>
          <a:prstGeom prst="roundRect">
            <a:avLst>
              <a:gd name="adj" fmla="val 14081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" y="3316485"/>
            <a:ext cx="38100" cy="54113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751" y="3461000"/>
            <a:ext cx="152396" cy="1066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9125" y="3971925"/>
            <a:ext cx="5124450" cy="541139"/>
          </a:xfrm>
          <a:prstGeom prst="roundRect">
            <a:avLst>
              <a:gd name="adj" fmla="val 14081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125" y="3971925"/>
            <a:ext cx="38100" cy="54113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751" y="4093563"/>
            <a:ext cx="152396" cy="1523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10300" y="1552723"/>
            <a:ext cx="5600700" cy="4854029"/>
          </a:xfrm>
          <a:prstGeom prst="roundRect">
            <a:avLst>
              <a:gd name="adj" fmla="val 2354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48425" y="1775519"/>
            <a:ext cx="457200" cy="457200"/>
          </a:xfrm>
          <a:prstGeom prst="ellipse">
            <a:avLst/>
          </a:prstGeom>
          <a:solidFill>
            <a:srgbClr val="967AAC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1610" y="1935922"/>
            <a:ext cx="190495" cy="13627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448425" y="2385119"/>
            <a:ext cx="5124450" cy="541139"/>
          </a:xfrm>
          <a:prstGeom prst="roundRect">
            <a:avLst>
              <a:gd name="adj" fmla="val 14081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8425" y="2385119"/>
            <a:ext cx="38100" cy="541139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32954" y="2516305"/>
            <a:ext cx="114297" cy="13337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448425" y="3040558"/>
            <a:ext cx="5124450" cy="868560"/>
          </a:xfrm>
          <a:prstGeom prst="roundRect">
            <a:avLst>
              <a:gd name="adj" fmla="val 8773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8425" y="3040558"/>
            <a:ext cx="38100" cy="868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3905" y="3166983"/>
            <a:ext cx="152396" cy="14287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880770" y="3543597"/>
            <a:ext cx="369986" cy="25896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1628" y="3543597"/>
            <a:ext cx="369986" cy="25896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42485" y="3543597"/>
            <a:ext cx="369986" cy="25896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73342" y="3543597"/>
            <a:ext cx="369986" cy="25896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48425" y="4023419"/>
            <a:ext cx="5124450" cy="701575"/>
          </a:xfrm>
          <a:prstGeom prst="roundRect">
            <a:avLst>
              <a:gd name="adj" fmla="val 10861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48425" y="4023419"/>
            <a:ext cx="38100" cy="7015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6435" y="4147587"/>
            <a:ext cx="147336" cy="147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0990" y="390515"/>
            <a:ext cx="3849194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183" b="1" i="0">
                <a:solidFill>
                  <a:srgbClr val="E0E7FF"/>
                </a:solidFill>
                <a:latin typeface="Inter 18pt"/>
              </a:rPr>
              <a:t>Multimodal Input &amp;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990" y="805735"/>
            <a:ext cx="6982692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A5B4FC"/>
                </a:solidFill>
                <a:latin typeface="Open Sans"/>
              </a:rPr>
              <a:t>Dr.Doc meets users where they are — whether they type, speak, or listen, the interface adapts seamlessly.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90595" y="1810746"/>
            <a:ext cx="78936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solidFill>
                  <a:srgbClr val="818CF8"/>
                </a:solidFill>
                <a:latin typeface="Open Sans"/>
              </a:rPr>
              <a:t>INPUT 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0595" y="1968798"/>
            <a:ext cx="1036115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64" b="1" i="0">
                <a:solidFill>
                  <a:srgbClr val="E0E7FF"/>
                </a:solidFill>
                <a:latin typeface="Inter 18pt"/>
              </a:rPr>
              <a:t>Voice Input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444" y="2491618"/>
            <a:ext cx="158021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Browser Web Speech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444" y="2649669"/>
            <a:ext cx="381332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A5B4FC"/>
                </a:solidFill>
                <a:latin typeface="Open Sans"/>
              </a:rPr>
              <a:t>Real-time transcription on Chrome &amp; Edge — no extra setup required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5185" y="2920381"/>
            <a:ext cx="108091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1" b="1" i="0">
                <a:solidFill>
                  <a:srgbClr val="A5B4FC"/>
                </a:solidFill>
                <a:latin typeface="Open Sans"/>
              </a:rPr>
              <a:t>LIVE TRANSCRIPTION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444" y="3422961"/>
            <a:ext cx="148288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Azure Whisper Fallback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444" y="3581012"/>
            <a:ext cx="404221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A5B4FC"/>
                </a:solidFill>
                <a:latin typeface="Open Sans"/>
              </a:rPr>
              <a:t>Seamless fallback for all other browsers via Azure OpenAI Whisper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444" y="4078383"/>
            <a:ext cx="218682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Microphone Button &amp; Live Indicator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444" y="4236435"/>
            <a:ext cx="354797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A5B4FC"/>
                </a:solidFill>
                <a:latin typeface="Open Sans"/>
              </a:rPr>
              <a:t>Visual recording indicator shows active capture state in real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9749" y="1810746"/>
            <a:ext cx="90515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solidFill>
                  <a:srgbClr val="C084FC"/>
                </a:solidFill>
                <a:latin typeface="Open Sans"/>
              </a:rPr>
              <a:t>OUTPUT MODE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9749" y="1968798"/>
            <a:ext cx="1199227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64" b="1" i="0">
                <a:solidFill>
                  <a:srgbClr val="E0E7FF"/>
                </a:solidFill>
                <a:latin typeface="Inter 18pt"/>
              </a:rPr>
              <a:t>Voice 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0598" y="2491618"/>
            <a:ext cx="2162418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Text-to-Speech on Every Message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80598" y="2649669"/>
            <a:ext cx="340510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A5B4FC"/>
                </a:solidFill>
                <a:latin typeface="Open Sans"/>
              </a:rPr>
              <a:t>Speaker icon on every assistant response — one click to listen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80598" y="3147040"/>
            <a:ext cx="212714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Configurable Voice, Speed &amp; Pitch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0598" y="3305092"/>
            <a:ext cx="270622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A5B4FC"/>
                </a:solidFill>
                <a:latin typeface="Open Sans"/>
              </a:rPr>
              <a:t>Adjust voice character, pitch, and playback speed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0123" y="3619647"/>
            <a:ext cx="350927" cy="163825"/>
          </a:xfrm>
          <a:prstGeom prst="rect">
            <a:avLst/>
          </a:prstGeom>
          <a:noFill/>
        </p:spPr>
        <p:txBody>
          <a:bodyPr wrap="none" lIns="76198" tIns="15239" rIns="76198" bIns="15239">
            <a:spAutoFit/>
          </a:bodyPr>
          <a:lstStyle/>
          <a:p>
            <a:pPr algn="l"/>
            <a:r>
              <a:rPr sz="708" b="1" i="0">
                <a:solidFill>
                  <a:srgbClr val="A5B4FC"/>
                </a:solidFill>
                <a:latin typeface="Open Sans"/>
              </a:rPr>
              <a:t>0.5x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20969" y="3619647"/>
            <a:ext cx="350927" cy="163825"/>
          </a:xfrm>
          <a:prstGeom prst="rect">
            <a:avLst/>
          </a:prstGeom>
          <a:noFill/>
        </p:spPr>
        <p:txBody>
          <a:bodyPr wrap="none" lIns="76198" tIns="15239" rIns="76198" bIns="15239">
            <a:spAutoFit/>
          </a:bodyPr>
          <a:lstStyle/>
          <a:p>
            <a:pPr algn="l"/>
            <a:r>
              <a:rPr sz="708" b="1" i="0">
                <a:solidFill>
                  <a:srgbClr val="A5B4FC"/>
                </a:solidFill>
                <a:latin typeface="Open Sans"/>
              </a:rPr>
              <a:t>1.0x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1816" y="3619647"/>
            <a:ext cx="350927" cy="163825"/>
          </a:xfrm>
          <a:prstGeom prst="rect">
            <a:avLst/>
          </a:prstGeom>
          <a:noFill/>
        </p:spPr>
        <p:txBody>
          <a:bodyPr wrap="none" lIns="76198" tIns="15239" rIns="76198" bIns="15239">
            <a:spAutoFit/>
          </a:bodyPr>
          <a:lstStyle/>
          <a:p>
            <a:pPr algn="l"/>
            <a:r>
              <a:rPr sz="708" b="1" i="0">
                <a:solidFill>
                  <a:srgbClr val="A5B4FC"/>
                </a:solidFill>
                <a:latin typeface="Open Sans"/>
              </a:rPr>
              <a:t>1.5x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2663" y="3619647"/>
            <a:ext cx="350927" cy="163825"/>
          </a:xfrm>
          <a:prstGeom prst="rect">
            <a:avLst/>
          </a:prstGeom>
          <a:noFill/>
        </p:spPr>
        <p:txBody>
          <a:bodyPr wrap="none" lIns="76198" tIns="15239" rIns="76198" bIns="15239">
            <a:spAutoFit/>
          </a:bodyPr>
          <a:lstStyle/>
          <a:p>
            <a:pPr algn="l"/>
            <a:r>
              <a:rPr sz="708" b="1" i="0">
                <a:solidFill>
                  <a:srgbClr val="A5B4FC"/>
                </a:solidFill>
                <a:latin typeface="Open Sans"/>
              </a:rPr>
              <a:t>2.0x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0598" y="4129877"/>
            <a:ext cx="168543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Auto-Speak &amp; Live Preview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0598" y="4287928"/>
            <a:ext cx="4092671" cy="3223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A5B4FC"/>
                </a:solidFill>
                <a:latin typeface="Open Sans"/>
              </a:rPr>
              <a:t>Hands-free mode auto-reads responses; live preview when adjusting voice settings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990" y="6513151"/>
            <a:ext cx="323276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0" i="0">
                <a:solidFill>
                  <a:srgbClr val="736BEA"/>
                </a:solidFill>
                <a:latin typeface="Open Sans"/>
              </a:rPr>
              <a:t>Dr.Doc — Intelligent Document Assistant | Tata Technologies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43108" y="6513151"/>
            <a:ext cx="36759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736BEA"/>
                </a:solidFill>
                <a:latin typeface="Open San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60000">
                <a:srgbClr val="A855F7"/>
              </a:gs>
              <a:gs pos="100000">
                <a:srgbClr val="38BDF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1294953"/>
            <a:ext cx="5952529" cy="5054500"/>
          </a:xfrm>
          <a:prstGeom prst="roundRect">
            <a:avLst>
              <a:gd name="adj" fmla="val 2638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0525" y="1304478"/>
            <a:ext cx="5933479" cy="310455"/>
          </a:xfrm>
          <a:prstGeom prst="rect">
            <a:avLst/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27595" y="1412081"/>
            <a:ext cx="85725" cy="85725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9520" y="1412081"/>
            <a:ext cx="85725" cy="85725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1445" y="1412081"/>
            <a:ext cx="85725" cy="85725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7595" y="1736824"/>
            <a:ext cx="5659338" cy="517921"/>
          </a:xfrm>
          <a:prstGeom prst="roundRect">
            <a:avLst>
              <a:gd name="adj" fmla="val 14712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3681" y="1814810"/>
            <a:ext cx="361950" cy="361950"/>
          </a:xfrm>
          <a:prstGeom prst="roundRect">
            <a:avLst>
              <a:gd name="adj" fmla="val 15789"/>
            </a:avLst>
          </a:prstGeom>
          <a:solidFill>
            <a:srgbClr val="858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437" y="1929061"/>
            <a:ext cx="152396" cy="13334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763017" y="2338536"/>
            <a:ext cx="4423916" cy="287089"/>
          </a:xfrm>
          <a:prstGeom prst="roundRect">
            <a:avLst>
              <a:gd name="adj" fmla="val 3981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27595" y="2728466"/>
            <a:ext cx="209550" cy="209550"/>
          </a:xfrm>
          <a:prstGeom prst="ellipse">
            <a:avLst/>
          </a:prstGeom>
          <a:solidFill>
            <a:srgbClr val="6D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665" y="2796618"/>
            <a:ext cx="91378" cy="7310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5606" y="2709416"/>
            <a:ext cx="5058072" cy="1009798"/>
          </a:xfrm>
          <a:prstGeom prst="roundRect">
            <a:avLst>
              <a:gd name="adj" fmla="val 2829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9431" y="2787401"/>
            <a:ext cx="959197" cy="187969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5134" y="2848730"/>
            <a:ext cx="83795" cy="6516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940671" y="3803005"/>
            <a:ext cx="2246262" cy="287089"/>
          </a:xfrm>
          <a:prstGeom prst="roundRect">
            <a:avLst>
              <a:gd name="adj" fmla="val 3981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7595" y="4192934"/>
            <a:ext cx="209550" cy="209550"/>
          </a:xfrm>
          <a:prstGeom prst="ellipse">
            <a:avLst/>
          </a:prstGeom>
          <a:solidFill>
            <a:srgbClr val="6D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665" y="4261051"/>
            <a:ext cx="91378" cy="7310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05606" y="4173884"/>
            <a:ext cx="5058072" cy="462260"/>
          </a:xfrm>
          <a:prstGeom prst="roundRect">
            <a:avLst>
              <a:gd name="adj" fmla="val 6181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62129" y="1487239"/>
            <a:ext cx="5248870" cy="476250"/>
          </a:xfrm>
          <a:prstGeom prst="roundRect">
            <a:avLst>
              <a:gd name="adj" fmla="val 2000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85954" y="157296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7165" y="1664309"/>
            <a:ext cx="121887" cy="121881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562129" y="2031950"/>
            <a:ext cx="5248870" cy="476250"/>
          </a:xfrm>
          <a:prstGeom prst="roundRect">
            <a:avLst>
              <a:gd name="adj" fmla="val 2000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685954" y="21176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7170" y="2222543"/>
            <a:ext cx="121897" cy="9480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562129" y="2576661"/>
            <a:ext cx="5248870" cy="476250"/>
          </a:xfrm>
          <a:prstGeom prst="roundRect">
            <a:avLst>
              <a:gd name="adj" fmla="val 2000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685954" y="2662386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7153" y="2761315"/>
            <a:ext cx="121899" cy="10667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562129" y="3351907"/>
            <a:ext cx="1354038" cy="22860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8048" y="3429426"/>
            <a:ext cx="94354" cy="7338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977038" y="3351907"/>
            <a:ext cx="1221730" cy="22860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93315" y="3419288"/>
            <a:ext cx="93597" cy="9362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259639" y="3351907"/>
            <a:ext cx="899666" cy="22860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75490" y="3424840"/>
            <a:ext cx="94354" cy="8256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0220176" y="3351907"/>
            <a:ext cx="1239738" cy="22860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36003" y="3418942"/>
            <a:ext cx="94354" cy="94354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562129" y="3702397"/>
            <a:ext cx="5248870" cy="405705"/>
          </a:xfrm>
          <a:prstGeom prst="rect">
            <a:avLst/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62129" y="3702397"/>
            <a:ext cx="38100" cy="40570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97098" y="3844134"/>
            <a:ext cx="121887" cy="12188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80990" y="304792"/>
            <a:ext cx="259460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696CF2"/>
                </a:solidFill>
                <a:latin typeface="Inter 18pt"/>
              </a:rPr>
              <a:t>Slide 09  |  Multimodal Capabilities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0990" y="458974"/>
            <a:ext cx="3758560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10" b="1" i="0">
                <a:solidFill>
                  <a:srgbClr val="E0E7FF"/>
                </a:solidFill>
                <a:latin typeface="Inter 18pt"/>
              </a:rPr>
              <a:t>Visual Document 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0990" y="828207"/>
            <a:ext cx="6327715" cy="3686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1">
                <a:solidFill>
                  <a:srgbClr val="A5B4FC"/>
                </a:solidFill>
                <a:latin typeface="Open Sans"/>
              </a:rPr>
              <a:t>When documents contain diagrams, charts, or handwritten notes, Dr.Doc's Vision capability reads them just like text.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4214" y="1388234"/>
            <a:ext cx="80454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solidFill>
                  <a:srgbClr val="818CF8"/>
                </a:solidFill>
                <a:latin typeface="Inter 18pt"/>
              </a:rPr>
              <a:t>Dr.Doc —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1804" y="1864323"/>
            <a:ext cx="1226908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C7D2FE"/>
                </a:solidFill>
                <a:latin typeface="Inter 18pt"/>
              </a:rPr>
              <a:t>engineering_diagram.png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1804" y="2003325"/>
            <a:ext cx="1444043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 i="0">
                <a:solidFill>
                  <a:srgbClr val="818CF8"/>
                </a:solidFill>
                <a:latin typeface="Open Sans"/>
              </a:rPr>
              <a:t>Image attached  ·  Ready to analyze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62973" y="2338358"/>
            <a:ext cx="4423805" cy="280027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774" b="0" i="0">
                <a:solidFill>
                  <a:srgbClr val="FFFFFF"/>
                </a:solidFill>
                <a:latin typeface="Open Sans"/>
              </a:rPr>
              <a:t>What components are shown in this engineering diagram and how are they connected?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7018" y="2824538"/>
            <a:ext cx="665840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2" b="1" i="0">
                <a:solidFill>
                  <a:srgbClr val="AF62F8"/>
                </a:solidFill>
                <a:latin typeface="Inter 18pt"/>
              </a:rPr>
              <a:t>GPT-4 Vision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408" y="3038101"/>
            <a:ext cx="4753600" cy="59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2" b="0" i="0">
                <a:solidFill>
                  <a:srgbClr val="C7D2FE"/>
                </a:solidFill>
                <a:latin typeface="Open Sans"/>
              </a:rPr>
              <a:t>The diagram shows a</a:t>
            </a:r>
            <a:r>
              <a:rPr sz="730" b="1" i="0">
                <a:solidFill>
                  <a:srgbClr val="A5B4FC"/>
                </a:solidFill>
                <a:latin typeface="Open Sans"/>
              </a:rPr>
              <a:t> hydraulic control system</a:t>
            </a:r>
            <a:r>
              <a:rPr sz="762" b="0" i="0">
                <a:solidFill>
                  <a:srgbClr val="C7D2FE"/>
                </a:solidFill>
                <a:latin typeface="Open Sans"/>
              </a:rPr>
              <a:t> with three main components:</a:t>
            </a:r>
            <a:r>
              <a:rPr sz="730" b="1" i="0">
                <a:solidFill>
                  <a:srgbClr val="A5B4FC"/>
                </a:solidFill>
                <a:latin typeface="Open Sans"/>
              </a:rPr>
              <a:t> pressure regulator</a:t>
            </a:r>
            <a:r>
              <a:rPr sz="762" b="0" i="0">
                <a:solidFill>
                  <a:srgbClr val="C7D2FE"/>
                </a:solidFill>
                <a:latin typeface="Open Sans"/>
              </a:rPr>
              <a:t> ,</a:t>
            </a:r>
            <a:r>
              <a:rPr sz="730" b="1" i="0">
                <a:solidFill>
                  <a:srgbClr val="A5B4FC"/>
                </a:solidFill>
                <a:latin typeface="Open Sans"/>
              </a:rPr>
              <a:t> flow control valve</a:t>
            </a:r>
            <a:r>
              <a:rPr sz="762" b="0" i="0">
                <a:solidFill>
                  <a:srgbClr val="C7D2FE"/>
                </a:solidFill>
                <a:latin typeface="Open Sans"/>
              </a:rPr>
              <a:t> , and</a:t>
            </a:r>
            <a:r>
              <a:rPr sz="730" b="1" i="0">
                <a:solidFill>
                  <a:srgbClr val="A5B4FC"/>
                </a:solidFill>
                <a:latin typeface="Open Sans"/>
              </a:rPr>
              <a:t> actuator assembly</a:t>
            </a:r>
            <a:r>
              <a:rPr sz="762" b="0" i="0">
                <a:solidFill>
                  <a:srgbClr val="C7D2FE"/>
                </a:solidFill>
                <a:latin typeface="Open Sans"/>
              </a:rPr>
              <a:t> . The regulator feeds into the valve via a high-pressure line (indicated by the bold arrows), and the valve modulates flow to the actuator. A feedback loop on the right returns pressure readings to the regulator for closed-loop control.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40572" y="3802790"/>
            <a:ext cx="2246206" cy="280027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774" b="0" i="0">
                <a:solidFill>
                  <a:srgbClr val="FFFFFF"/>
                </a:solidFill>
                <a:latin typeface="Open Sans"/>
              </a:rPr>
              <a:t>Is this a closed-loop or open-loop system?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111" y="4192710"/>
            <a:ext cx="4718180" cy="423643"/>
          </a:xfrm>
          <a:prstGeom prst="rect">
            <a:avLst/>
          </a:prstGeom>
          <a:noFill/>
        </p:spPr>
        <p:txBody>
          <a:bodyPr wrap="square" lIns="114297" tIns="68578" rIns="114297" bIns="68578">
            <a:spAutoFit/>
          </a:bodyPr>
          <a:lstStyle/>
          <a:p>
            <a:pPr algn="l"/>
            <a:r>
              <a:rPr sz="762" b="0" i="0">
                <a:solidFill>
                  <a:srgbClr val="C7D2FE"/>
                </a:solidFill>
                <a:latin typeface="Open Sans"/>
              </a:rPr>
              <a:t>Based on the feedback arrow visible in the diagram, this is a</a:t>
            </a:r>
            <a:r>
              <a:rPr sz="730" b="1" i="0">
                <a:solidFill>
                  <a:srgbClr val="A5B4FC"/>
                </a:solidFill>
                <a:latin typeface="Open Sans"/>
              </a:rPr>
              <a:t> closed-loop system</a:t>
            </a:r>
            <a:r>
              <a:rPr sz="762" b="0" i="0">
                <a:solidFill>
                  <a:srgbClr val="C7D2FE"/>
                </a:solidFill>
                <a:latin typeface="Open Sans"/>
              </a:rPr>
              <a:t> . The actuator output is continuously monitored and fed back to adjust the pressure regulator.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1965" y="1294921"/>
            <a:ext cx="879254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696CF2"/>
                </a:solidFill>
                <a:latin typeface="Inter 18pt"/>
              </a:rPr>
              <a:t>How It Works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9548" y="1590337"/>
            <a:ext cx="109356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solidFill>
                  <a:srgbClr val="E0E7FF"/>
                </a:solidFill>
                <a:latin typeface="Inter 18pt"/>
              </a:rPr>
              <a:t>Upload Image in Chat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9548" y="1723237"/>
            <a:ext cx="334081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818CF8"/>
                </a:solidFill>
                <a:latin typeface="Open Sans"/>
              </a:rPr>
              <a:t>Users attach images directly in the chat interface — no separate upload flow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9548" y="2135034"/>
            <a:ext cx="115011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solidFill>
                  <a:srgbClr val="E0E7FF"/>
                </a:solidFill>
                <a:latin typeface="Inter 18pt"/>
              </a:rPr>
              <a:t>GPT-4 Vision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9548" y="2267935"/>
            <a:ext cx="299062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818CF8"/>
                </a:solidFill>
                <a:latin typeface="Open Sans"/>
              </a:rPr>
              <a:t>Azure OpenAI GPT-4 Vision performs real-time image understanding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9548" y="2679732"/>
            <a:ext cx="81987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solidFill>
                  <a:srgbClr val="E0E7FF"/>
                </a:solidFill>
                <a:latin typeface="Inter 18pt"/>
              </a:rPr>
              <a:t>Contextual Q&amp;A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9548" y="2812632"/>
            <a:ext cx="342638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818CF8"/>
                </a:solidFill>
                <a:latin typeface="Open Sans"/>
              </a:rPr>
              <a:t>Images analyzed in conversation context — not stored in the RAG vector index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1965" y="3174722"/>
            <a:ext cx="64039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696CF2"/>
                </a:solidFill>
                <a:latin typeface="Inter 18pt"/>
              </a:rPr>
              <a:t>Use Cases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8092" y="3399446"/>
            <a:ext cx="98179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7" b="0" i="0">
                <a:solidFill>
                  <a:srgbClr val="C7D2FE"/>
                </a:solidFill>
                <a:latin typeface="Open Sans"/>
              </a:rPr>
              <a:t>Engineering Diagrams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32965" y="3399446"/>
            <a:ext cx="84948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7" b="0" i="0">
                <a:solidFill>
                  <a:srgbClr val="C7D2FE"/>
                </a:solidFill>
                <a:latin typeface="Open Sans"/>
              </a:rPr>
              <a:t>Handwritten Notes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15534" y="3399446"/>
            <a:ext cx="52743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7" b="0" i="0">
                <a:solidFill>
                  <a:srgbClr val="C7D2FE"/>
                </a:solidFill>
                <a:latin typeface="Open Sans"/>
              </a:rPr>
              <a:t>Data Charts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76047" y="3399446"/>
            <a:ext cx="86749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7" b="0" i="0">
                <a:solidFill>
                  <a:srgbClr val="C7D2FE"/>
                </a:solidFill>
                <a:latin typeface="Open Sans"/>
              </a:rPr>
              <a:t>Component Photos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95183" y="3770763"/>
            <a:ext cx="4475298" cy="26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17" b="0" i="0">
                <a:solidFill>
                  <a:srgbClr val="A5B4FC"/>
                </a:solidFill>
                <a:latin typeface="Open Sans"/>
              </a:rPr>
              <a:t>Images are analyzed</a:t>
            </a:r>
            <a:r>
              <a:rPr sz="687" b="1" i="0">
                <a:solidFill>
                  <a:srgbClr val="E0E7FF"/>
                </a:solidFill>
                <a:latin typeface="Open Sans"/>
              </a:rPr>
              <a:t> in-context only</a:t>
            </a:r>
            <a:r>
              <a:rPr sz="717" b="0" i="0">
                <a:solidFill>
                  <a:srgbClr val="A5B4FC"/>
                </a:solidFill>
                <a:latin typeface="Open Sans"/>
              </a:rPr>
              <a:t> — not persisted in the FAISS vector store, ensuring privacy and separation of concerns from document Q&amp;A.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0990" y="6495887"/>
            <a:ext cx="271768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736BEA"/>
                </a:solidFill>
                <a:latin typeface="Open Sans"/>
              </a:rPr>
              <a:t>Dr.Doc — Intelligent Document Assistant  |  Tata Technologies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139576"/>
            <a:ext cx="11430000" cy="190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366F1"/>
              </a:gs>
              <a:gs pos="60000">
                <a:srgbClr val="A855F7"/>
              </a:gs>
              <a:gs pos="100000">
                <a:srgbClr val="0F0F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9560" y="1270386"/>
            <a:ext cx="4819650" cy="5013721"/>
          </a:xfrm>
          <a:prstGeom prst="roundRect">
            <a:avLst>
              <a:gd name="adj" fmla="val 2371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0525" y="1320551"/>
            <a:ext cx="4800600" cy="279796"/>
          </a:xfrm>
          <a:prstGeom prst="rect">
            <a:avLst/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20005" y="1412825"/>
            <a:ext cx="85725" cy="85725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1930" y="1412825"/>
            <a:ext cx="85725" cy="85725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3855" y="1412825"/>
            <a:ext cx="85725" cy="85725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0525" y="1600348"/>
            <a:ext cx="1601985" cy="4714875"/>
          </a:xfrm>
          <a:prstGeom prst="rect">
            <a:avLst/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724" y="1691729"/>
            <a:ext cx="1440060" cy="205680"/>
          </a:xfrm>
          <a:prstGeom prst="roundRect">
            <a:avLst>
              <a:gd name="adj" fmla="val 27785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5930" y="1749347"/>
            <a:ext cx="76663" cy="76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66724" y="2133451"/>
            <a:ext cx="1440060" cy="215205"/>
          </a:xfrm>
          <a:prstGeom prst="roundRect">
            <a:avLst>
              <a:gd name="adj" fmla="val 2213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72" y="2199029"/>
            <a:ext cx="83788" cy="8378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66724" y="2394346"/>
            <a:ext cx="1440060" cy="215205"/>
          </a:xfrm>
          <a:prstGeom prst="roundRect">
            <a:avLst>
              <a:gd name="adj" fmla="val 22130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72" y="2459918"/>
            <a:ext cx="83788" cy="8378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66724" y="2655242"/>
            <a:ext cx="1440060" cy="215205"/>
          </a:xfrm>
          <a:prstGeom prst="roundRect">
            <a:avLst>
              <a:gd name="adj" fmla="val 22130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72" y="2720807"/>
            <a:ext cx="83788" cy="8378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6724" y="2916138"/>
            <a:ext cx="1440060" cy="215205"/>
          </a:xfrm>
          <a:prstGeom prst="roundRect">
            <a:avLst>
              <a:gd name="adj" fmla="val 22130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72" y="2981696"/>
            <a:ext cx="83788" cy="8378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083891" y="1691729"/>
            <a:ext cx="3015853" cy="552152"/>
          </a:xfrm>
          <a:prstGeom prst="roundRect">
            <a:avLst>
              <a:gd name="adj" fmla="val 138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083891" y="2864494"/>
            <a:ext cx="2717303" cy="382637"/>
          </a:xfrm>
          <a:prstGeom prst="roundRect">
            <a:avLst>
              <a:gd name="adj" fmla="val 19914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169616" y="3066305"/>
            <a:ext cx="342453" cy="125610"/>
          </a:xfrm>
          <a:prstGeom prst="roundRect">
            <a:avLst>
              <a:gd name="adj" fmla="val 30331"/>
            </a:avLst>
          </a:prstGeom>
          <a:solidFill>
            <a:srgbClr val="878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2228" y="3092422"/>
            <a:ext cx="63938" cy="7307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557760" y="3066305"/>
            <a:ext cx="301823" cy="125610"/>
          </a:xfrm>
          <a:prstGeom prst="roundRect">
            <a:avLst>
              <a:gd name="adj" fmla="val 30331"/>
            </a:avLst>
          </a:prstGeom>
          <a:solidFill>
            <a:srgbClr val="878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5796" y="3092500"/>
            <a:ext cx="72993" cy="7299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2905273" y="3066305"/>
            <a:ext cx="395733" cy="125610"/>
          </a:xfrm>
          <a:prstGeom prst="roundRect">
            <a:avLst>
              <a:gd name="adj" fmla="val 30331"/>
            </a:avLst>
          </a:prstGeom>
          <a:solidFill>
            <a:srgbClr val="878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47863" y="3096983"/>
            <a:ext cx="66225" cy="63947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3346698" y="3066305"/>
            <a:ext cx="343644" cy="125610"/>
          </a:xfrm>
          <a:prstGeom prst="roundRect">
            <a:avLst>
              <a:gd name="adj" fmla="val 30331"/>
            </a:avLst>
          </a:prstGeom>
          <a:solidFill>
            <a:srgbClr val="878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84713" y="3102817"/>
            <a:ext cx="73072" cy="5227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2083891" y="3315592"/>
            <a:ext cx="3015853" cy="251221"/>
          </a:xfrm>
          <a:prstGeom prst="roundRect">
            <a:avLst>
              <a:gd name="adj" fmla="val 22748"/>
            </a:avLst>
          </a:prstGeom>
          <a:solidFill>
            <a:srgbClr val="131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154287" y="3355478"/>
            <a:ext cx="171450" cy="171450"/>
          </a:xfrm>
          <a:prstGeom prst="roundRect">
            <a:avLst>
              <a:gd name="adj" fmla="val 16666"/>
            </a:avLst>
          </a:prstGeom>
          <a:solidFill>
            <a:srgbClr val="7B7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1857" y="3407781"/>
            <a:ext cx="76198" cy="66673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2414" y="3395428"/>
            <a:ext cx="91378" cy="9137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083891" y="3635275"/>
            <a:ext cx="405705" cy="158055"/>
          </a:xfrm>
          <a:prstGeom prst="roundRect">
            <a:avLst>
              <a:gd name="adj" fmla="val 48211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177206" y="3690491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262931" y="3690491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348656" y="3690491"/>
            <a:ext cx="47625" cy="47625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083891" y="3892153"/>
            <a:ext cx="3015853" cy="234255"/>
          </a:xfrm>
          <a:prstGeom prst="roundRect">
            <a:avLst>
              <a:gd name="adj" fmla="val 28462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83839" y="3963491"/>
            <a:ext cx="62822" cy="91378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22514" y="3963490"/>
            <a:ext cx="91376" cy="91397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5429250" y="2095202"/>
            <a:ext cx="6381750" cy="504378"/>
          </a:xfrm>
          <a:prstGeom prst="roundRect">
            <a:avLst>
              <a:gd name="adj" fmla="val 15107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29250" y="2095202"/>
            <a:ext cx="38100" cy="50437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579715" y="2188517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9643" y="2282996"/>
            <a:ext cx="144657" cy="11572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5429250" y="2683371"/>
            <a:ext cx="6381750" cy="504378"/>
          </a:xfrm>
          <a:prstGeom prst="roundRect">
            <a:avLst>
              <a:gd name="adj" fmla="val 15107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29250" y="2683371"/>
            <a:ext cx="38100" cy="50437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579715" y="2776686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70944" y="2913183"/>
            <a:ext cx="122054" cy="31659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429250" y="3271539"/>
            <a:ext cx="6381750" cy="504378"/>
          </a:xfrm>
          <a:prstGeom prst="roundRect">
            <a:avLst>
              <a:gd name="adj" fmla="val 15107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29250" y="3271539"/>
            <a:ext cx="38100" cy="50437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579715" y="336485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62044" y="3447239"/>
            <a:ext cx="139854" cy="139854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5429250" y="3859708"/>
            <a:ext cx="6381750" cy="504378"/>
          </a:xfrm>
          <a:prstGeom prst="roundRect">
            <a:avLst>
              <a:gd name="adj" fmla="val 15107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429250" y="3859708"/>
            <a:ext cx="38100" cy="50437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579715" y="395302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62044" y="4035394"/>
            <a:ext cx="139854" cy="139854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5429250" y="4447877"/>
            <a:ext cx="6381750" cy="504378"/>
          </a:xfrm>
          <a:prstGeom prst="roundRect">
            <a:avLst>
              <a:gd name="adj" fmla="val 15107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29250" y="4447877"/>
            <a:ext cx="38100" cy="50437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579715" y="4541192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59643" y="4630187"/>
            <a:ext cx="144657" cy="126575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5429250" y="5036046"/>
            <a:ext cx="6381750" cy="504378"/>
          </a:xfrm>
          <a:prstGeom prst="roundRect">
            <a:avLst>
              <a:gd name="adj" fmla="val 15107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429250" y="5036046"/>
            <a:ext cx="38100" cy="50437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579715" y="512936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77713" y="5209298"/>
            <a:ext cx="108516" cy="144661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80990" y="285742"/>
            <a:ext cx="7051002" cy="476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38" b="1" i="0">
                <a:solidFill>
                  <a:srgbClr val="E0E7FF"/>
                </a:solidFill>
                <a:latin typeface="Inter 18pt"/>
              </a:rPr>
              <a:t>Human-Computer Interaction Design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0990" y="790704"/>
            <a:ext cx="9250329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3" b="0" i="1">
                <a:solidFill>
                  <a:srgbClr val="A5B4FC"/>
                </a:solidFill>
                <a:latin typeface="Open Sans"/>
              </a:rPr>
              <a:t>Every micro-interaction in Dr.Doc is designed to reduce cognitive load and keep the user focused on their document questions.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444" y="1388978"/>
            <a:ext cx="206270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2" b="0" i="0">
                <a:solidFill>
                  <a:srgbClr val="818CF8"/>
                </a:solidFill>
                <a:latin typeface="Inter 18pt"/>
              </a:rPr>
              <a:t>Dr.Doc — Intelligent Document Assistant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281" y="1711977"/>
            <a:ext cx="617323" cy="205734"/>
          </a:xfrm>
          <a:prstGeom prst="rect">
            <a:avLst/>
          </a:prstGeom>
          <a:noFill/>
        </p:spPr>
        <p:txBody>
          <a:bodyPr wrap="none" lIns="76198" tIns="45718" rIns="76198" bIns="45718">
            <a:spAutoFit/>
          </a:bodyPr>
          <a:lstStyle/>
          <a:p>
            <a:pPr algn="ctr"/>
            <a:r>
              <a:rPr sz="676" b="1" i="0">
                <a:solidFill>
                  <a:srgbClr val="070707"/>
                </a:solidFill>
                <a:latin typeface="Inter 18pt"/>
              </a:rPr>
              <a:t>New Chat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6713" y="1973411"/>
            <a:ext cx="344379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99" b="1" i="0">
                <a:solidFill>
                  <a:srgbClr val="7D77EC"/>
                </a:solidFill>
                <a:latin typeface="Open Sans"/>
              </a:rPr>
              <a:t>Recent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4649" y="2179086"/>
            <a:ext cx="821064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 i="0">
                <a:solidFill>
                  <a:srgbClr val="E0E7FF"/>
                </a:solidFill>
                <a:latin typeface="Open Sans"/>
              </a:rPr>
              <a:t>Compare BOM docs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649" y="2439976"/>
            <a:ext cx="645004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 i="0">
                <a:solidFill>
                  <a:srgbClr val="818CF8"/>
                </a:solidFill>
                <a:latin typeface="Open Sans"/>
              </a:rPr>
              <a:t>Analyze spec v2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4649" y="2700865"/>
            <a:ext cx="638754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 i="0">
                <a:solidFill>
                  <a:srgbClr val="818CF8"/>
                </a:solidFill>
                <a:latin typeface="Open Sans"/>
              </a:rPr>
              <a:t>Contract review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4649" y="2961754"/>
            <a:ext cx="449598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 i="0">
                <a:solidFill>
                  <a:srgbClr val="818CF8"/>
                </a:solidFill>
                <a:latin typeface="Open Sans"/>
              </a:rPr>
              <a:t>Policy Q&amp;A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94515" y="1762080"/>
            <a:ext cx="794275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8" b="1" i="0">
                <a:solidFill>
                  <a:srgbClr val="E0E7FF"/>
                </a:solidFill>
                <a:latin typeface="Inter 18pt"/>
              </a:rPr>
              <a:t>Hello! I'm Dr.Doc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12781" y="1885902"/>
            <a:ext cx="1557745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26" b="0" i="0">
                <a:solidFill>
                  <a:srgbClr val="818CF8"/>
                </a:solidFill>
                <a:latin typeface="Open Sans"/>
              </a:rPr>
              <a:t>Ask me anything about your documents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00041" y="2038239"/>
            <a:ext cx="518236" cy="135251"/>
          </a:xfrm>
          <a:prstGeom prst="rect">
            <a:avLst/>
          </a:prstGeom>
          <a:solidFill>
            <a:srgbClr val="312E81"/>
          </a:solidFill>
        </p:spPr>
        <p:txBody>
          <a:bodyPr wrap="none" lIns="60958" tIns="15239" rIns="60958" bIns="15239">
            <a:spAutoFit/>
          </a:bodyPr>
          <a:lstStyle/>
          <a:p>
            <a:pPr algn="ctr"/>
            <a:r>
              <a:rPr sz="569" b="0" i="0">
                <a:solidFill>
                  <a:srgbClr val="C7D2FE"/>
                </a:solidFill>
                <a:latin typeface="Open Sans"/>
              </a:rPr>
              <a:t>Voice Input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56198" y="2038239"/>
            <a:ext cx="523891" cy="135251"/>
          </a:xfrm>
          <a:prstGeom prst="rect">
            <a:avLst/>
          </a:prstGeom>
          <a:solidFill>
            <a:srgbClr val="312E81"/>
          </a:solidFill>
        </p:spPr>
        <p:txBody>
          <a:bodyPr wrap="none" lIns="60958" tIns="15239" rIns="60958" bIns="15239">
            <a:spAutoFit/>
          </a:bodyPr>
          <a:lstStyle/>
          <a:p>
            <a:pPr algn="ctr"/>
            <a:r>
              <a:rPr sz="569" b="0" i="0">
                <a:solidFill>
                  <a:srgbClr val="C7D2FE"/>
                </a:solidFill>
                <a:latin typeface="Open Sans"/>
              </a:rPr>
              <a:t>Image Q&amp;A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18010" y="2038239"/>
            <a:ext cx="465403" cy="135251"/>
          </a:xfrm>
          <a:prstGeom prst="rect">
            <a:avLst/>
          </a:prstGeom>
          <a:solidFill>
            <a:srgbClr val="312E81"/>
          </a:solidFill>
        </p:spPr>
        <p:txBody>
          <a:bodyPr wrap="none" lIns="60958" tIns="15239" rIns="60958" bIns="15239">
            <a:spAutoFit/>
          </a:bodyPr>
          <a:lstStyle/>
          <a:p>
            <a:pPr algn="ctr"/>
            <a:r>
              <a:rPr sz="569" b="0" i="0">
                <a:solidFill>
                  <a:srgbClr val="C7D2FE"/>
                </a:solidFill>
                <a:latin typeface="Open Sans"/>
              </a:rPr>
              <a:t>Multi-Doc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54630" y="2321809"/>
            <a:ext cx="638278" cy="180970"/>
          </a:xfrm>
          <a:prstGeom prst="rect">
            <a:avLst/>
          </a:prstGeom>
          <a:solidFill>
            <a:srgbClr val="13132E"/>
          </a:solidFill>
        </p:spPr>
        <p:txBody>
          <a:bodyPr wrap="none" lIns="53338" tIns="38099" rIns="53338" bIns="38099">
            <a:spAutoFit/>
          </a:bodyPr>
          <a:lstStyle/>
          <a:p>
            <a:pPr algn="ctr"/>
            <a:r>
              <a:rPr sz="591" b="0" i="0">
                <a:solidFill>
                  <a:srgbClr val="818CF8"/>
                </a:solidFill>
                <a:latin typeface="Open Sans"/>
              </a:rPr>
              <a:t>Compare docs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29737" y="2321809"/>
            <a:ext cx="523980" cy="180970"/>
          </a:xfrm>
          <a:prstGeom prst="rect">
            <a:avLst/>
          </a:prstGeom>
          <a:solidFill>
            <a:srgbClr val="13132E"/>
          </a:solidFill>
        </p:spPr>
        <p:txBody>
          <a:bodyPr wrap="none" lIns="53338" tIns="38099" rIns="53338" bIns="38099">
            <a:spAutoFit/>
          </a:bodyPr>
          <a:lstStyle/>
          <a:p>
            <a:pPr algn="ctr"/>
            <a:r>
              <a:rPr sz="591" b="0" i="0">
                <a:solidFill>
                  <a:srgbClr val="818CF8"/>
                </a:solidFill>
                <a:latin typeface="Open Sans"/>
              </a:rPr>
              <a:t>Summarize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31772" y="2321809"/>
            <a:ext cx="555680" cy="180970"/>
          </a:xfrm>
          <a:prstGeom prst="rect">
            <a:avLst/>
          </a:prstGeom>
          <a:solidFill>
            <a:srgbClr val="13132E"/>
          </a:solidFill>
        </p:spPr>
        <p:txBody>
          <a:bodyPr wrap="none" lIns="53338" tIns="38099" rIns="53338" bIns="38099">
            <a:spAutoFit/>
          </a:bodyPr>
          <a:lstStyle/>
          <a:p>
            <a:pPr algn="ctr"/>
            <a:r>
              <a:rPr sz="591" b="0" i="0">
                <a:solidFill>
                  <a:srgbClr val="818CF8"/>
                </a:solidFill>
                <a:latin typeface="Open Sans"/>
              </a:rPr>
              <a:t>Find clauses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81449" y="2540094"/>
            <a:ext cx="1618167" cy="215259"/>
          </a:xfrm>
          <a:prstGeom prst="rect">
            <a:avLst/>
          </a:prstGeom>
          <a:solidFill>
            <a:srgbClr val="4F46E5"/>
          </a:solidFill>
        </p:spPr>
        <p:txBody>
          <a:bodyPr wrap="none" lIns="76198" tIns="45718" rIns="76198" bIns="45718">
            <a:spAutoFit/>
          </a:bodyPr>
          <a:lstStyle/>
          <a:p>
            <a:pPr algn="l"/>
            <a:r>
              <a:rPr sz="660" b="0" i="0">
                <a:solidFill>
                  <a:srgbClr val="FFFFFF"/>
                </a:solidFill>
                <a:latin typeface="Open Sans"/>
              </a:rPr>
              <a:t>What are the key specs in the BOM?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03878" y="2873918"/>
            <a:ext cx="1387192" cy="215259"/>
          </a:xfrm>
          <a:prstGeom prst="rect">
            <a:avLst/>
          </a:prstGeom>
          <a:noFill/>
        </p:spPr>
        <p:txBody>
          <a:bodyPr wrap="none" lIns="76198" tIns="45718" rIns="76198" bIns="45718">
            <a:spAutoFit/>
          </a:bodyPr>
          <a:lstStyle/>
          <a:p>
            <a:pPr algn="l"/>
            <a:r>
              <a:rPr sz="660" b="0" i="0">
                <a:solidFill>
                  <a:srgbClr val="C7D2FE"/>
                </a:solidFill>
                <a:latin typeface="Open Sans"/>
              </a:rPr>
              <a:t>Based on your uploaded BOM, the key specifications include...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03504" y="3081409"/>
            <a:ext cx="170403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46" b="0" i="0">
                <a:solidFill>
                  <a:srgbClr val="1F212E"/>
                </a:solidFill>
                <a:latin typeface="Open Sans"/>
              </a:rPr>
              <a:t>Copy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91638" y="3081409"/>
            <a:ext cx="129774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46" b="0" i="0">
                <a:solidFill>
                  <a:srgbClr val="1F212E"/>
                </a:solidFill>
                <a:latin typeface="Open Sans"/>
              </a:rPr>
              <a:t>Edit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39143" y="3081409"/>
            <a:ext cx="223683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46" b="0" i="0">
                <a:solidFill>
                  <a:srgbClr val="1F212E"/>
                </a:solidFill>
                <a:latin typeface="Open Sans"/>
              </a:rPr>
              <a:t>Re-ask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80556" y="3081409"/>
            <a:ext cx="171594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46" b="0" i="0">
                <a:solidFill>
                  <a:srgbClr val="1F212E"/>
                </a:solidFill>
                <a:latin typeface="Open Sans"/>
              </a:rPr>
              <a:t>Read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63777" y="3388731"/>
            <a:ext cx="1210537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91" b="0" i="0">
                <a:solidFill>
                  <a:srgbClr val="A5B4FC"/>
                </a:solidFill>
                <a:latin typeface="Open Sans"/>
              </a:rPr>
              <a:t>diagram_v3.png — ready to send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14219" y="3947269"/>
            <a:ext cx="1576645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7" b="0" i="0">
                <a:solidFill>
                  <a:srgbClr val="807AEC"/>
                </a:solidFill>
                <a:latin typeface="Open Sans"/>
              </a:rPr>
              <a:t>Ask a question about your documents...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83336" y="2188462"/>
            <a:ext cx="101751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4" b="1" i="0">
                <a:solidFill>
                  <a:srgbClr val="E0E7FF"/>
                </a:solidFill>
                <a:latin typeface="Inter 18pt"/>
              </a:rPr>
              <a:t>Welcome Screen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83336" y="2354104"/>
            <a:ext cx="538282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A5B4FC"/>
                </a:solidFill>
                <a:latin typeface="Open Sans"/>
              </a:rPr>
              <a:t>Dr.Doc greeting with feature discovery pills — voice, image, multi-doc — surface capabilities at first glance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83336" y="2776616"/>
            <a:ext cx="98030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4" b="1" i="0">
                <a:solidFill>
                  <a:srgbClr val="E0E7FF"/>
                </a:solidFill>
                <a:latin typeface="Inter 18pt"/>
              </a:rPr>
              <a:t>Typing Indicator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83336" y="2942258"/>
            <a:ext cx="532523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A5B4FC"/>
                </a:solidFill>
                <a:latin typeface="Open Sans"/>
              </a:rPr>
              <a:t>Animated bouncing dots signal the assistant is working — eliminating ambiguity while awaiting response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83336" y="3364770"/>
            <a:ext cx="104058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4" b="1" i="0">
                <a:solidFill>
                  <a:srgbClr val="E0E7FF"/>
                </a:solidFill>
                <a:latin typeface="Inter 18pt"/>
              </a:rPr>
              <a:t>Message Actions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83336" y="3530412"/>
            <a:ext cx="492192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A5B4FC"/>
                </a:solidFill>
                <a:latin typeface="Open Sans"/>
              </a:rPr>
              <a:t>Copy, Edit, Re-ask, Read Aloud on every assistant message — one-click access to power functions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83336" y="3952924"/>
            <a:ext cx="46671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4" b="1" i="0">
                <a:solidFill>
                  <a:srgbClr val="E0E7FF"/>
                </a:solidFill>
                <a:latin typeface="Inter 18pt"/>
              </a:rPr>
              <a:t>Sidebar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83336" y="4118566"/>
            <a:ext cx="513578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A5B4FC"/>
                </a:solidFill>
                <a:latin typeface="Open Sans"/>
              </a:rPr>
              <a:t>Chat history with New Chat, Rename, and Delete — full session management without leaving context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83336" y="4541078"/>
            <a:ext cx="111499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4" b="1" i="0">
                <a:solidFill>
                  <a:srgbClr val="E0E7FF"/>
                </a:solidFill>
                <a:latin typeface="Inter 18pt"/>
              </a:rPr>
              <a:t>Image Preview Bar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83336" y="4706720"/>
            <a:ext cx="523311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A5B4FC"/>
                </a:solidFill>
                <a:latin typeface="Open Sans"/>
              </a:rPr>
              <a:t>Visual confirmation before sending — shows thumbnail and filename so users verify before submitting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83336" y="5129233"/>
            <a:ext cx="117660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4" b="1" i="0">
                <a:solidFill>
                  <a:srgbClr val="E0E7FF"/>
                </a:solidFill>
                <a:latin typeface="Inter 18pt"/>
              </a:rPr>
              <a:t>Quick-Action Cards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83336" y="5294874"/>
            <a:ext cx="547078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A5B4FC"/>
                </a:solidFill>
                <a:latin typeface="Open Sans"/>
              </a:rPr>
              <a:t>Dynamic sample prompts auto-generated from document content — one-click starters to guide exploration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0990" y="6486362"/>
            <a:ext cx="115681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736BEA"/>
                </a:solidFill>
                <a:latin typeface="Inter 18pt"/>
              </a:rPr>
              <a:t>Tata Technologies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459925" y="6486362"/>
            <a:ext cx="35077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1" b="0" i="0">
                <a:solidFill>
                  <a:srgbClr val="736BEA"/>
                </a:solidFill>
                <a:latin typeface="Inter 18pt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158626"/>
            <a:ext cx="11430000" cy="691901"/>
          </a:xfrm>
          <a:prstGeom prst="roundRect">
            <a:avLst>
              <a:gd name="adj" fmla="val 11013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27595" y="1336923"/>
            <a:ext cx="335160" cy="335160"/>
          </a:xfrm>
          <a:prstGeom prst="roundRect">
            <a:avLst>
              <a:gd name="adj" fmla="val 22735"/>
            </a:avLst>
          </a:prstGeom>
          <a:solidFill>
            <a:srgbClr val="7D7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8960" y="1436734"/>
            <a:ext cx="152396" cy="1354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52327" y="1390203"/>
            <a:ext cx="9525" cy="2286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1000" y="1908423"/>
            <a:ext cx="11430000" cy="691901"/>
          </a:xfrm>
          <a:prstGeom prst="roundRect">
            <a:avLst>
              <a:gd name="adj" fmla="val 11013"/>
            </a:avLst>
          </a:prstGeom>
          <a:solidFill>
            <a:srgbClr val="1E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7595" y="2086719"/>
            <a:ext cx="335160" cy="335160"/>
          </a:xfrm>
          <a:prstGeom prst="roundRect">
            <a:avLst>
              <a:gd name="adj" fmla="val 22735"/>
            </a:avLst>
          </a:prstGeom>
          <a:solidFill>
            <a:srgbClr val="966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960" y="2187569"/>
            <a:ext cx="152396" cy="13334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52327" y="2139999"/>
            <a:ext cx="9525" cy="2286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1000" y="2658219"/>
            <a:ext cx="11430000" cy="691901"/>
          </a:xfrm>
          <a:prstGeom prst="roundRect">
            <a:avLst>
              <a:gd name="adj" fmla="val 11013"/>
            </a:avLst>
          </a:prstGeom>
          <a:solidFill>
            <a:srgbClr val="1E0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7595" y="2836515"/>
            <a:ext cx="335160" cy="335160"/>
          </a:xfrm>
          <a:prstGeom prst="roundRect">
            <a:avLst>
              <a:gd name="adj" fmla="val 22735"/>
            </a:avLst>
          </a:prstGeom>
          <a:solidFill>
            <a:srgbClr val="A65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960" y="2927822"/>
            <a:ext cx="152396" cy="1523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952327" y="2889795"/>
            <a:ext cx="9525" cy="2286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1000" y="3408015"/>
            <a:ext cx="11430000" cy="691901"/>
          </a:xfrm>
          <a:prstGeom prst="roundRect">
            <a:avLst>
              <a:gd name="adj" fmla="val 11013"/>
            </a:avLst>
          </a:prstGeom>
          <a:solidFill>
            <a:srgbClr val="0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7595" y="3586311"/>
            <a:ext cx="335160" cy="335160"/>
          </a:xfrm>
          <a:prstGeom prst="roundRect">
            <a:avLst>
              <a:gd name="adj" fmla="val 22735"/>
            </a:avLst>
          </a:prstGeom>
          <a:solidFill>
            <a:srgbClr val="388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485" y="3677599"/>
            <a:ext cx="133346" cy="15239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952327" y="3639591"/>
            <a:ext cx="9525" cy="2286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1000" y="4157811"/>
            <a:ext cx="11430000" cy="691901"/>
          </a:xfrm>
          <a:prstGeom prst="roundRect">
            <a:avLst>
              <a:gd name="adj" fmla="val 11013"/>
            </a:avLst>
          </a:prstGeom>
          <a:solidFill>
            <a:srgbClr val="0C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7595" y="4336107"/>
            <a:ext cx="335160" cy="335160"/>
          </a:xfrm>
          <a:prstGeom prst="roundRect">
            <a:avLst>
              <a:gd name="adj" fmla="val 22735"/>
            </a:avLst>
          </a:prstGeom>
          <a:solidFill>
            <a:srgbClr val="3C9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960" y="4427377"/>
            <a:ext cx="150171" cy="15239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952327" y="4389387"/>
            <a:ext cx="9525" cy="2286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81000" y="4907607"/>
            <a:ext cx="11430000" cy="691901"/>
          </a:xfrm>
          <a:prstGeom prst="roundRect">
            <a:avLst>
              <a:gd name="adj" fmla="val 11013"/>
            </a:avLst>
          </a:prstGeom>
          <a:solidFill>
            <a:srgbClr val="1C1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27595" y="5085903"/>
            <a:ext cx="335160" cy="335160"/>
          </a:xfrm>
          <a:prstGeom prst="roundRect">
            <a:avLst>
              <a:gd name="adj" fmla="val 22735"/>
            </a:avLst>
          </a:prstGeom>
          <a:solidFill>
            <a:srgbClr val="BE6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772" y="5177154"/>
            <a:ext cx="104772" cy="15239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952327" y="5139183"/>
            <a:ext cx="9525" cy="2286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81000" y="5657403"/>
            <a:ext cx="11430000" cy="691901"/>
          </a:xfrm>
          <a:prstGeom prst="roundRect">
            <a:avLst>
              <a:gd name="adj" fmla="val 11013"/>
            </a:avLst>
          </a:prstGeom>
          <a:solidFill>
            <a:srgbClr val="0C1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7595" y="5835699"/>
            <a:ext cx="335160" cy="335160"/>
          </a:xfrm>
          <a:prstGeom prst="roundRect">
            <a:avLst>
              <a:gd name="adj" fmla="val 22735"/>
            </a:avLst>
          </a:prstGeom>
          <a:solidFill>
            <a:srgbClr val="359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960" y="5936456"/>
            <a:ext cx="152396" cy="13334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952327" y="5888980"/>
            <a:ext cx="9525" cy="2286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0990" y="304792"/>
            <a:ext cx="195227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696CF2"/>
                </a:solidFill>
                <a:latin typeface="Inter 18pt"/>
              </a:rPr>
              <a:t>Technology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990" y="458974"/>
            <a:ext cx="4336296" cy="3143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55" b="1" i="0">
                <a:solidFill>
                  <a:srgbClr val="E0E7FF"/>
                </a:solidFill>
                <a:latin typeface="Inter 18pt"/>
              </a:rPr>
              <a:t>Modern Stack, Purposeful Choices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1443" y="304792"/>
            <a:ext cx="123926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3" b="1" i="0">
                <a:solidFill>
                  <a:srgbClr val="696CF2"/>
                </a:solidFill>
                <a:latin typeface="Inter 18pt"/>
              </a:rPr>
              <a:t>Tata Technologies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6822" y="438139"/>
            <a:ext cx="72388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0" i="0">
                <a:solidFill>
                  <a:srgbClr val="736BEA"/>
                </a:solidFill>
                <a:latin typeface="Open Sans"/>
              </a:rPr>
              <a:t>Dr.Doc | Internal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990" y="870771"/>
            <a:ext cx="796835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C7D2FE"/>
                </a:solidFill>
                <a:latin typeface="Open Sans"/>
              </a:rPr>
              <a:t>Dr.Doc is built on a carefully chosen modern stack — each layer selected for performance, cost-efficiency, and local data sovereignty.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032" y="1437792"/>
            <a:ext cx="67343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A5B4FC"/>
                </a:solidFill>
                <a:latin typeface="Inter 18pt"/>
              </a:rP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98811" y="1410170"/>
            <a:ext cx="537523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C7D2FE"/>
                </a:solidFill>
                <a:latin typeface="Open Sans"/>
              </a:rPr>
              <a:t>HTML5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085" y="1410170"/>
            <a:ext cx="422185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C7D2FE"/>
                </a:solidFill>
                <a:latin typeface="Open Sans"/>
              </a:rPr>
              <a:t>CSS3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0020" y="1410170"/>
            <a:ext cx="1080881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C7D2FE"/>
                </a:solidFill>
                <a:latin typeface="Open Sans"/>
              </a:rPr>
              <a:t>Vanilla JavaScript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1652" y="1410170"/>
            <a:ext cx="993373" cy="188590"/>
          </a:xfrm>
          <a:prstGeom prst="rect">
            <a:avLst/>
          </a:prstGeom>
          <a:solidFill>
            <a:srgbClr val="312E81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C7D2FE"/>
                </a:solidFill>
                <a:latin typeface="Open Sans"/>
              </a:rPr>
              <a:t>Bootstrap Icons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032" y="2187569"/>
            <a:ext cx="59708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C4B5FD"/>
                </a:solidFill>
                <a:latin typeface="Inter 18pt"/>
              </a:rPr>
              <a:t>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98811" y="2159948"/>
            <a:ext cx="785911" cy="188590"/>
          </a:xfrm>
          <a:prstGeom prst="rect">
            <a:avLst/>
          </a:prstGeom>
          <a:solidFill>
            <a:srgbClr val="4C1D95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EDE9FE"/>
                </a:solidFill>
                <a:latin typeface="Open Sans"/>
              </a:rPr>
              <a:t>Python 3.13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45473" y="2159948"/>
            <a:ext cx="449717" cy="188590"/>
          </a:xfrm>
          <a:prstGeom prst="rect">
            <a:avLst/>
          </a:prstGeom>
          <a:solidFill>
            <a:srgbClr val="4C1D95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EDE9FE"/>
                </a:solidFill>
                <a:latin typeface="Open Sans"/>
              </a:rPr>
              <a:t>Flask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032" y="2937347"/>
            <a:ext cx="42876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F0ABFC"/>
                </a:solidFill>
                <a:latin typeface="Inter 18pt"/>
              </a:rPr>
              <a:t>AI / 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98811" y="2909725"/>
            <a:ext cx="889047" cy="188590"/>
          </a:xfrm>
          <a:prstGeom prst="rect">
            <a:avLst/>
          </a:prstGeom>
          <a:solidFill>
            <a:srgbClr val="6B21A8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FAE8FF"/>
                </a:solidFill>
                <a:latin typeface="Open Sans"/>
              </a:rPr>
              <a:t>Azure OpenAI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48608" y="2909725"/>
            <a:ext cx="1152317" cy="188590"/>
          </a:xfrm>
          <a:prstGeom prst="rect">
            <a:avLst/>
          </a:prstGeom>
          <a:solidFill>
            <a:srgbClr val="6B21A8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FAE8FF"/>
                </a:solidFill>
                <a:latin typeface="Open Sans"/>
              </a:rPr>
              <a:t>GPT-4.1-mini (chat)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1676" y="2909725"/>
            <a:ext cx="1389841" cy="188590"/>
          </a:xfrm>
          <a:prstGeom prst="rect">
            <a:avLst/>
          </a:prstGeom>
          <a:solidFill>
            <a:srgbClr val="6B21A8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FAE8FF"/>
                </a:solidFill>
                <a:latin typeface="Open Sans"/>
              </a:rPr>
              <a:t>text-embedding-3-large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2267" y="2909725"/>
            <a:ext cx="1065850" cy="188590"/>
          </a:xfrm>
          <a:prstGeom prst="rect">
            <a:avLst/>
          </a:prstGeom>
          <a:solidFill>
            <a:srgbClr val="6B21A8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FAE8FF"/>
                </a:solidFill>
                <a:latin typeface="Open Sans"/>
              </a:rPr>
              <a:t>Whisper (speech)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8868" y="2909725"/>
            <a:ext cx="1483600" cy="188590"/>
          </a:xfrm>
          <a:prstGeom prst="rect">
            <a:avLst/>
          </a:prstGeom>
          <a:solidFill>
            <a:srgbClr val="6B21A8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FAE8FF"/>
                </a:solidFill>
                <a:latin typeface="Open Sans"/>
              </a:rPr>
              <a:t>GPT-4 Vision (image Q&amp;A)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032" y="3620451"/>
            <a:ext cx="505705" cy="2666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7DD3FC"/>
                </a:solidFill>
                <a:latin typeface="Inter 18pt"/>
              </a:rPr>
              <a:t>Vector 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98811" y="3659502"/>
            <a:ext cx="457605" cy="188590"/>
          </a:xfrm>
          <a:prstGeom prst="rect">
            <a:avLst/>
          </a:prstGeom>
          <a:solidFill>
            <a:srgbClr val="075985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E0F2FE"/>
                </a:solidFill>
                <a:latin typeface="Open Sans"/>
              </a:rPr>
              <a:t>FAISS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17166" y="3659502"/>
            <a:ext cx="1707134" cy="188590"/>
          </a:xfrm>
          <a:prstGeom prst="rect">
            <a:avLst/>
          </a:prstGeom>
          <a:solidFill>
            <a:srgbClr val="075985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E0F2FE"/>
                </a:solidFill>
                <a:latin typeface="Open Sans"/>
              </a:rPr>
              <a:t>Facebook AI Similarity Search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5051" y="3659502"/>
            <a:ext cx="1523039" cy="188590"/>
          </a:xfrm>
          <a:prstGeom prst="rect">
            <a:avLst/>
          </a:prstGeom>
          <a:solidFill>
            <a:srgbClr val="075985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E0F2FE"/>
                </a:solidFill>
                <a:latin typeface="Open Sans"/>
              </a:rPr>
              <a:t>Cosine Similarity Indexing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7032" y="4436901"/>
            <a:ext cx="70006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5EEAD4"/>
                </a:solidFill>
                <a:latin typeface="Inter 18pt"/>
              </a:rPr>
              <a:t>Tokenizer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98811" y="4409280"/>
            <a:ext cx="624288" cy="188590"/>
          </a:xfrm>
          <a:prstGeom prst="rect">
            <a:avLst/>
          </a:prstGeom>
          <a:solidFill>
            <a:srgbClr val="115E59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CCFBF1"/>
                </a:solidFill>
                <a:latin typeface="Open Sans"/>
              </a:rPr>
              <a:t>tiktoken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83849" y="4409280"/>
            <a:ext cx="1290128" cy="188590"/>
          </a:xfrm>
          <a:prstGeom prst="rect">
            <a:avLst/>
          </a:prstGeom>
          <a:solidFill>
            <a:srgbClr val="115E59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CCFBF1"/>
                </a:solidFill>
                <a:latin typeface="Open Sans"/>
              </a:rPr>
              <a:t>cl100k_base encoding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34728" y="4409280"/>
            <a:ext cx="1094276" cy="188590"/>
          </a:xfrm>
          <a:prstGeom prst="rect">
            <a:avLst/>
          </a:prstGeom>
          <a:solidFill>
            <a:srgbClr val="115E59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CCFBF1"/>
                </a:solidFill>
                <a:latin typeface="Open Sans"/>
              </a:rPr>
              <a:t>400-token chunks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89755" y="4409280"/>
            <a:ext cx="1050968" cy="188590"/>
          </a:xfrm>
          <a:prstGeom prst="rect">
            <a:avLst/>
          </a:prstGeom>
          <a:solidFill>
            <a:srgbClr val="115E59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CCFBF1"/>
                </a:solidFill>
                <a:latin typeface="Open Sans"/>
              </a:rPr>
              <a:t>50-token overlap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7032" y="5186679"/>
            <a:ext cx="81362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FCD34D"/>
                </a:solidFill>
                <a:latin typeface="Inter 18pt"/>
              </a:rPr>
              <a:t>Speech APIs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98811" y="5159057"/>
            <a:ext cx="1450561" cy="188590"/>
          </a:xfrm>
          <a:prstGeom prst="rect">
            <a:avLst/>
          </a:prstGeom>
          <a:solidFill>
            <a:srgbClr val="92400E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FEF3C7"/>
                </a:solidFill>
                <a:latin typeface="Open Sans"/>
              </a:rPr>
              <a:t>Browser Web Speech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10122" y="5159057"/>
            <a:ext cx="1239826" cy="188590"/>
          </a:xfrm>
          <a:prstGeom prst="rect">
            <a:avLst/>
          </a:prstGeom>
          <a:solidFill>
            <a:srgbClr val="92400E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FEF3C7"/>
                </a:solidFill>
                <a:latin typeface="Open Sans"/>
              </a:rPr>
              <a:t>SpeechSynthesis API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7032" y="5936456"/>
            <a:ext cx="58190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86EFAC"/>
                </a:solidFill>
                <a:latin typeface="Inter 18pt"/>
              </a:rPr>
              <a:t>Storage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98811" y="5908834"/>
            <a:ext cx="1827533" cy="188590"/>
          </a:xfrm>
          <a:prstGeom prst="rect">
            <a:avLst/>
          </a:prstGeom>
          <a:solidFill>
            <a:srgbClr val="166534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DCFCE7"/>
                </a:solidFill>
                <a:latin typeface="Open Sans"/>
              </a:rPr>
              <a:t>Filesystem (docs &amp; embeddings)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87095" y="5908834"/>
            <a:ext cx="1538665" cy="188590"/>
          </a:xfrm>
          <a:prstGeom prst="rect">
            <a:avLst/>
          </a:prstGeom>
          <a:solidFill>
            <a:srgbClr val="166534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DCFCE7"/>
                </a:solidFill>
                <a:latin typeface="Open Sans"/>
              </a:rPr>
              <a:t>localStorage (chat history)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86510" y="5908834"/>
            <a:ext cx="1306797" cy="188590"/>
          </a:xfrm>
          <a:prstGeom prst="rect">
            <a:avLst/>
          </a:prstGeom>
          <a:solidFill>
            <a:srgbClr val="166534"/>
          </a:solidFill>
        </p:spPr>
        <p:txBody>
          <a:bodyPr wrap="none" lIns="91437" tIns="22859" rIns="91437" bIns="22859">
            <a:spAutoFit/>
          </a:bodyPr>
          <a:lstStyle/>
          <a:p>
            <a:pPr algn="l"/>
            <a:r>
              <a:rPr sz="741" b="1" i="0">
                <a:solidFill>
                  <a:srgbClr val="DCFCE7"/>
                </a:solidFill>
                <a:latin typeface="Open Sans"/>
              </a:rPr>
              <a:t>Capped at 30 sessions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0990" y="6495887"/>
            <a:ext cx="318260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0" b="0" i="0">
                <a:solidFill>
                  <a:srgbClr val="736BEA"/>
                </a:solidFill>
                <a:latin typeface="Open Sans"/>
              </a:rPr>
              <a:t>Tata Technologies | Deva Dharshan D (931033) | September 25,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96536" y="6495887"/>
            <a:ext cx="31416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0" b="0" i="0">
                <a:solidFill>
                  <a:srgbClr val="736BEA"/>
                </a:solidFill>
                <a:latin typeface="Open San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17512"/>
            <a:ext cx="533400" cy="285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7654" y="1444638"/>
            <a:ext cx="199936" cy="2120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000" y="1779835"/>
            <a:ext cx="3733651" cy="2205632"/>
          </a:xfrm>
          <a:prstGeom prst="roundRect">
            <a:avLst>
              <a:gd name="adj" fmla="val 5182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1000" y="1779835"/>
            <a:ext cx="38100" cy="22056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7155" y="1941760"/>
            <a:ext cx="304800" cy="304800"/>
          </a:xfrm>
          <a:prstGeom prst="ellipse">
            <a:avLst/>
          </a:prstGeom>
          <a:solidFill>
            <a:srgbClr val="608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799" y="2037461"/>
            <a:ext cx="129462" cy="1132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28951" y="1779835"/>
            <a:ext cx="3733651" cy="2205632"/>
          </a:xfrm>
          <a:prstGeom prst="roundRect">
            <a:avLst>
              <a:gd name="adj" fmla="val 5182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28951" y="1779835"/>
            <a:ext cx="38100" cy="22056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25106" y="1941760"/>
            <a:ext cx="304800" cy="304800"/>
          </a:xfrm>
          <a:prstGeom prst="ellipse">
            <a:avLst/>
          </a:prstGeom>
          <a:solidFill>
            <a:srgbClr val="6D8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2653" y="2029369"/>
            <a:ext cx="129477" cy="12947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76902" y="1779835"/>
            <a:ext cx="3733651" cy="2205632"/>
          </a:xfrm>
          <a:prstGeom prst="roundRect">
            <a:avLst>
              <a:gd name="adj" fmla="val 5182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6902" y="1779835"/>
            <a:ext cx="38100" cy="22056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73057" y="1941760"/>
            <a:ext cx="304800" cy="304800"/>
          </a:xfrm>
          <a:prstGeom prst="ellipse">
            <a:avLst/>
          </a:prstGeom>
          <a:solidFill>
            <a:srgbClr val="988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0508" y="2036562"/>
            <a:ext cx="129477" cy="11509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81000" y="4099768"/>
            <a:ext cx="3733651" cy="2205632"/>
          </a:xfrm>
          <a:prstGeom prst="roundRect">
            <a:avLst>
              <a:gd name="adj" fmla="val 5182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1000" y="4099768"/>
            <a:ext cx="38100" cy="22056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7155" y="4261693"/>
            <a:ext cx="304800" cy="304800"/>
          </a:xfrm>
          <a:prstGeom prst="ellipse">
            <a:avLst/>
          </a:prstGeom>
          <a:solidFill>
            <a:srgbClr val="838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798" y="4349244"/>
            <a:ext cx="129477" cy="129477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228951" y="4099768"/>
            <a:ext cx="3733651" cy="2205632"/>
          </a:xfrm>
          <a:prstGeom prst="roundRect">
            <a:avLst>
              <a:gd name="adj" fmla="val 5182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28951" y="4099768"/>
            <a:ext cx="38100" cy="22056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25106" y="4261693"/>
            <a:ext cx="304800" cy="304800"/>
          </a:xfrm>
          <a:prstGeom prst="ellipse">
            <a:avLst/>
          </a:prstGeom>
          <a:solidFill>
            <a:srgbClr val="608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0745" y="4349244"/>
            <a:ext cx="113292" cy="129477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076902" y="4099768"/>
            <a:ext cx="3733651" cy="2205632"/>
          </a:xfrm>
          <a:prstGeom prst="roundRect">
            <a:avLst>
              <a:gd name="adj" fmla="val 5182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76902" y="4099768"/>
            <a:ext cx="38100" cy="22056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73057" y="4261693"/>
            <a:ext cx="304800" cy="304800"/>
          </a:xfrm>
          <a:prstGeom prst="ellipse">
            <a:avLst/>
          </a:prstGeom>
          <a:solidFill>
            <a:srgbClr val="967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0508" y="4362192"/>
            <a:ext cx="129477" cy="1035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0990" y="285742"/>
            <a:ext cx="3965128" cy="476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38" b="1" i="0">
                <a:solidFill>
                  <a:srgbClr val="E0E7FF"/>
                </a:solidFill>
                <a:latin typeface="Inter 18pt"/>
              </a:rPr>
              <a:t>Robustness &amp;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990" y="899345"/>
            <a:ext cx="6204042" cy="463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3" b="0" i="1">
                <a:solidFill>
                  <a:srgbClr val="A5B4FC"/>
                </a:solidFill>
                <a:latin typeface="Open Sans"/>
              </a:rPr>
              <a:t>Dr.Doc is designed to be enterprise-safe — data stays local, inputs are sanitized, and errors surface as friendly messages, not stack traces.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634" y="1465473"/>
            <a:ext cx="2601004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34D399"/>
                </a:solidFill>
                <a:latin typeface="Open Sans"/>
              </a:rPr>
              <a:t>Enterprise Security &amp; Reliability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131" y="2017910"/>
            <a:ext cx="96780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XSS Prevention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141" y="2307373"/>
            <a:ext cx="2831235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All user inputs sanitized before rendering in chat — malicious scripts are neutralized at entry point.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5986" y="2017910"/>
            <a:ext cx="114535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API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4995" y="2307373"/>
            <a:ext cx="3072926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Errors displayed as friendly chat messages — never raw stack traces or unformatted HTML in the UI.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3841" y="2017910"/>
            <a:ext cx="158527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Auth &amp; Connection Errors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2850" y="2307373"/>
            <a:ext cx="3220857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Authentication and network errors identified and surfaced separately — users get clear, actionable context.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8131" y="4337784"/>
            <a:ext cx="126381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Global Error Handler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141" y="4627248"/>
            <a:ext cx="3206421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JSON error handler applied uniformly to all Flask routes — consistent, parseable error responses every 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5986" y="4337784"/>
            <a:ext cx="81808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Data Locality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4995" y="4627248"/>
            <a:ext cx="3094208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Documents stored locally on-premise — zero cloud data leakage; full enterprise data sovereignty maintained.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3841" y="4337784"/>
            <a:ext cx="125429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E0E7FF"/>
                </a:solidFill>
                <a:latin typeface="Inter 18pt"/>
              </a:rPr>
              <a:t>Human-in-the-Loop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2850" y="4627248"/>
            <a:ext cx="3103732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System provides answers only — it never modifies, overwrites, or deletes source documents autonomously.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0990" y="6467313"/>
            <a:ext cx="1009475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736BEA"/>
                </a:solidFill>
                <a:latin typeface="Open Sans"/>
              </a:rPr>
              <a:t>Tata Technologies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88060" y="6476837"/>
            <a:ext cx="322264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736BEA"/>
                </a:solidFill>
                <a:latin typeface="Open Sans"/>
              </a:rPr>
              <a:t>Dr.Doc — Intelligent Document Assistant | September 25,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81000" y="13239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990" y="276218"/>
            <a:ext cx="3618516" cy="476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38" b="1" i="0" dirty="0">
                <a:solidFill>
                  <a:srgbClr val="E0E7FF"/>
                </a:solidFill>
                <a:latin typeface="Inter 18pt"/>
              </a:rPr>
              <a:t>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990" y="778649"/>
            <a:ext cx="7485569" cy="463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3" b="0" i="0" dirty="0">
                <a:solidFill>
                  <a:srgbClr val="C7D2FE"/>
                </a:solidFill>
                <a:latin typeface="Open Sans"/>
              </a:rPr>
              <a:t>Targeted architectural improvements delivered measurable gains in accuracy, speed, and cost — without a full rewrite.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90" y="6457788"/>
            <a:ext cx="5092324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 dirty="0">
                <a:solidFill>
                  <a:srgbClr val="818CF8"/>
                </a:solidFill>
                <a:latin typeface="Open Sans"/>
              </a:rPr>
              <a:t>Tata Technologies | </a:t>
            </a:r>
            <a:r>
              <a:rPr sz="911" b="0" i="0" dirty="0" err="1">
                <a:solidFill>
                  <a:srgbClr val="818CF8"/>
                </a:solidFill>
                <a:latin typeface="Open Sans"/>
              </a:rPr>
              <a:t>Dr.Doc</a:t>
            </a:r>
            <a:r>
              <a:rPr sz="911" b="0" i="0" dirty="0">
                <a:solidFill>
                  <a:srgbClr val="818CF8"/>
                </a:solidFill>
                <a:latin typeface="Open Sans"/>
              </a:rPr>
              <a:t> — Intelligent Document Assistant | Deva Dharshan D (931033)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8701" y="6457788"/>
            <a:ext cx="39200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 dirty="0">
                <a:solidFill>
                  <a:srgbClr val="736BEA"/>
                </a:solidFill>
                <a:latin typeface="Open Sans"/>
              </a:rPr>
              <a:t>13 / 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116898"/>
              </p:ext>
            </p:extLst>
          </p:nvPr>
        </p:nvGraphicFramePr>
        <p:xfrm>
          <a:off x="380990" y="2449798"/>
          <a:ext cx="11429714" cy="28249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09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12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1" i="0" dirty="0">
                          <a:solidFill>
                            <a:srgbClr val="E0E7FF"/>
                          </a:solidFill>
                          <a:latin typeface="Open Sans"/>
                        </a:rPr>
                        <a:t>Improvement Area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1" i="0" dirty="0">
                          <a:solidFill>
                            <a:srgbClr val="F87171"/>
                          </a:solidFill>
                          <a:latin typeface="Open Sans"/>
                        </a:rPr>
                        <a:t>Before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1" i="0" dirty="0">
                          <a:solidFill>
                            <a:srgbClr val="34D399"/>
                          </a:solidFill>
                          <a:latin typeface="Open Sans"/>
                        </a:rPr>
                        <a:t>After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 dirty="0">
                          <a:solidFill>
                            <a:srgbClr val="C7D2FE"/>
                          </a:solidFill>
                          <a:latin typeface="Open Sans"/>
                        </a:rPr>
                        <a:t>Conversation Memory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FCA5A5"/>
                          </a:solidFill>
                          <a:latin typeface="Open Sans"/>
                        </a:rPr>
                        <a:t>Stateless — no context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6EE7B7"/>
                          </a:solidFill>
                          <a:latin typeface="Open Sans"/>
                        </a:rPr>
                        <a:t>Last 6 messages sent to LLM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 dirty="0">
                          <a:solidFill>
                            <a:srgbClr val="C7D2FE"/>
                          </a:solidFill>
                          <a:latin typeface="Open Sans"/>
                        </a:rPr>
                        <a:t>Token Chunking</a:t>
                      </a:r>
                    </a:p>
                  </a:txBody>
                  <a:tcPr anchor="ctr">
                    <a:solidFill>
                      <a:srgbClr val="161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FCA5A5"/>
                          </a:solidFill>
                          <a:latin typeface="Open Sans"/>
                        </a:rPr>
                        <a:t>Word-count based</a:t>
                      </a:r>
                    </a:p>
                  </a:txBody>
                  <a:tcPr anchor="ctr">
                    <a:solidFill>
                      <a:srgbClr val="161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6EE7B7"/>
                          </a:solidFill>
                          <a:latin typeface="Open Sans"/>
                        </a:rPr>
                        <a:t>Real token counting with </a:t>
                      </a:r>
                      <a:r>
                        <a:rPr sz="1000" b="0" i="0" dirty="0" err="1">
                          <a:solidFill>
                            <a:srgbClr val="6EE7B7"/>
                          </a:solidFill>
                          <a:latin typeface="Open Sans"/>
                        </a:rPr>
                        <a:t>tiktoken</a:t>
                      </a:r>
                    </a:p>
                  </a:txBody>
                  <a:tcPr anchor="ctr">
                    <a:solidFill>
                      <a:srgbClr val="1616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 dirty="0">
                          <a:solidFill>
                            <a:srgbClr val="C7D2FE"/>
                          </a:solidFill>
                          <a:latin typeface="Open Sans"/>
                        </a:rPr>
                        <a:t>Delete Performance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FCA5A5"/>
                          </a:solidFill>
                          <a:latin typeface="Open Sans"/>
                        </a:rPr>
                        <a:t>Re-embeds all documents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6EE7B7"/>
                          </a:solidFill>
                          <a:latin typeface="Open Sans"/>
                        </a:rPr>
                        <a:t>Slices stored embeddings — instant &amp; free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 dirty="0">
                          <a:solidFill>
                            <a:srgbClr val="C7D2FE"/>
                          </a:solidFill>
                          <a:latin typeface="Open Sans"/>
                        </a:rPr>
                        <a:t>Deduplication</a:t>
                      </a:r>
                    </a:p>
                  </a:txBody>
                  <a:tcPr anchor="ctr">
                    <a:solidFill>
                      <a:srgbClr val="161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FCA5A5"/>
                          </a:solidFill>
                          <a:latin typeface="Open Sans"/>
                        </a:rPr>
                        <a:t>MD5 on raw text</a:t>
                      </a:r>
                    </a:p>
                  </a:txBody>
                  <a:tcPr anchor="ctr">
                    <a:solidFill>
                      <a:srgbClr val="161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6EE7B7"/>
                          </a:solidFill>
                          <a:latin typeface="Open Sans"/>
                        </a:rPr>
                        <a:t>SHA-256 on normalized whitespace</a:t>
                      </a:r>
                    </a:p>
                  </a:txBody>
                  <a:tcPr anchor="ctr">
                    <a:solidFill>
                      <a:srgbClr val="1616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 dirty="0">
                          <a:solidFill>
                            <a:srgbClr val="C7D2FE"/>
                          </a:solidFill>
                          <a:latin typeface="Open Sans"/>
                        </a:rPr>
                        <a:t>Embedding Dimension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FCA5A5"/>
                          </a:solidFill>
                          <a:latin typeface="Open Sans"/>
                        </a:rPr>
                        <a:t>Hardcoded 3072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6EE7B7"/>
                          </a:solidFill>
                          <a:latin typeface="Open Sans"/>
                        </a:rPr>
                        <a:t>Auto-detected from API response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 dirty="0">
                          <a:solidFill>
                            <a:srgbClr val="C7D2FE"/>
                          </a:solidFill>
                          <a:latin typeface="Open Sans"/>
                        </a:rPr>
                        <a:t>DOCX Extraction</a:t>
                      </a:r>
                    </a:p>
                  </a:txBody>
                  <a:tcPr anchor="ctr">
                    <a:solidFill>
                      <a:srgbClr val="161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FCA5A5"/>
                          </a:solidFill>
                          <a:latin typeface="Open Sans"/>
                        </a:rPr>
                        <a:t>Paragraphs only</a:t>
                      </a:r>
                    </a:p>
                  </a:txBody>
                  <a:tcPr anchor="ctr">
                    <a:solidFill>
                      <a:srgbClr val="161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6EE7B7"/>
                          </a:solidFill>
                          <a:latin typeface="Open Sans"/>
                        </a:rPr>
                        <a:t>Paragraphs + tables</a:t>
                      </a:r>
                    </a:p>
                  </a:txBody>
                  <a:tcPr anchor="ctr">
                    <a:solidFill>
                      <a:srgbClr val="1616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 dirty="0" err="1">
                          <a:solidFill>
                            <a:srgbClr val="C7D2FE"/>
                          </a:solidFill>
                          <a:latin typeface="Open Sans"/>
                        </a:rPr>
                        <a:t>localStorage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FCA5A5"/>
                          </a:solidFill>
                          <a:latin typeface="Open Sans"/>
                        </a:rPr>
                        <a:t>Unbounded growth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6EE7B7"/>
                          </a:solidFill>
                          <a:latin typeface="Open Sans"/>
                        </a:rPr>
                        <a:t>Capped at 30 chats with auto-pruning</a:t>
                      </a:r>
                    </a:p>
                  </a:txBody>
                  <a:tcPr anchor="ctr">
                    <a:solidFill>
                      <a:srgbClr val="1A1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33400" y="2598539"/>
            <a:ext cx="1187053" cy="285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63353" y="2598539"/>
            <a:ext cx="2374106" cy="285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23" y="2555612"/>
            <a:ext cx="95247" cy="1142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66084" y="2598539"/>
            <a:ext cx="2374106" cy="285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484" y="2555612"/>
            <a:ext cx="95247" cy="1142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68815" y="2598539"/>
            <a:ext cx="2374106" cy="285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145" y="2555612"/>
            <a:ext cx="95247" cy="1142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71546" y="2598539"/>
            <a:ext cx="1187053" cy="28575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1000" y="2761357"/>
            <a:ext cx="2743200" cy="2033438"/>
          </a:xfrm>
          <a:prstGeom prst="roundRect">
            <a:avLst>
              <a:gd name="adj" fmla="val 5621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581150" y="2938462"/>
            <a:ext cx="342900" cy="3429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33525" y="3372742"/>
            <a:ext cx="438150" cy="438150"/>
          </a:xfrm>
          <a:prstGeom prst="ellipse">
            <a:avLst/>
          </a:prstGeom>
          <a:solidFill>
            <a:srgbClr val="87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4898" y="3504078"/>
            <a:ext cx="175166" cy="17515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276600" y="2761357"/>
            <a:ext cx="2743200" cy="2197893"/>
          </a:xfrm>
          <a:prstGeom prst="roundRect">
            <a:avLst>
              <a:gd name="adj" fmla="val 52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76750" y="2938462"/>
            <a:ext cx="342900" cy="3429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29125" y="3372742"/>
            <a:ext cx="438150" cy="438150"/>
          </a:xfrm>
          <a:prstGeom prst="ellipse">
            <a:avLst/>
          </a:prstGeom>
          <a:solidFill>
            <a:srgbClr val="87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0157" y="3513809"/>
            <a:ext cx="155703" cy="15568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72200" y="2761357"/>
            <a:ext cx="2743200" cy="2197893"/>
          </a:xfrm>
          <a:prstGeom prst="roundRect">
            <a:avLst>
              <a:gd name="adj" fmla="val 52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72350" y="2938462"/>
            <a:ext cx="342900" cy="3429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24724" y="3372742"/>
            <a:ext cx="438150" cy="438150"/>
          </a:xfrm>
          <a:prstGeom prst="ellipse">
            <a:avLst/>
          </a:prstGeom>
          <a:solidFill>
            <a:srgbClr val="87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5953" y="3515018"/>
            <a:ext cx="175166" cy="15327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067800" y="2761357"/>
            <a:ext cx="2743200" cy="2033438"/>
          </a:xfrm>
          <a:prstGeom prst="roundRect">
            <a:avLst>
              <a:gd name="adj" fmla="val 5621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267950" y="2938462"/>
            <a:ext cx="342900" cy="3429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220325" y="3372742"/>
            <a:ext cx="438150" cy="438150"/>
          </a:xfrm>
          <a:prstGeom prst="ellipse">
            <a:avLst/>
          </a:prstGeom>
          <a:solidFill>
            <a:srgbClr val="87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51481" y="3528990"/>
            <a:ext cx="175166" cy="1253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0990" y="276218"/>
            <a:ext cx="2993454" cy="476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38" b="1" i="0">
                <a:solidFill>
                  <a:srgbClr val="E0E7FF"/>
                </a:solidFill>
                <a:latin typeface="Inter 18pt"/>
              </a:rPr>
              <a:t>Live Demo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990" y="816748"/>
            <a:ext cx="8099619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38" b="0" i="1">
                <a:solidFill>
                  <a:srgbClr val="C7D2FE"/>
                </a:solidFill>
                <a:latin typeface="Open Sans"/>
              </a:rPr>
              <a:t>Four steps, two documents, one image — the full Dr.Doc workflow in under three minutes.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20410" y="3014587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070707"/>
                </a:solidFill>
                <a:latin typeface="Inter 18pt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562" y="3902175"/>
            <a:ext cx="46983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81" b="1" i="0">
                <a:solidFill>
                  <a:srgbClr val="E0E7FF"/>
                </a:solidFill>
                <a:latin typeface="Inter 18pt"/>
              </a:rPr>
              <a:t>Upload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286" y="4148629"/>
            <a:ext cx="2172389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1" b="0" i="0">
                <a:solidFill>
                  <a:srgbClr val="C7D2FE"/>
                </a:solidFill>
                <a:latin typeface="Open Sans"/>
              </a:rPr>
              <a:t>Add a PDF and a DOCX in the Feed tab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030" y="4413863"/>
            <a:ext cx="2056902" cy="203829"/>
          </a:xfrm>
          <a:prstGeom prst="rect">
            <a:avLst/>
          </a:prstGeom>
          <a:solidFill>
            <a:srgbClr val="312E81"/>
          </a:solidFill>
        </p:spPr>
        <p:txBody>
          <a:bodyPr wrap="none" lIns="76198" tIns="30479" rIns="76198" bIns="30479">
            <a:spAutoFit/>
          </a:bodyPr>
          <a:lstStyle/>
          <a:p>
            <a:pPr algn="ctr"/>
            <a:r>
              <a:rPr sz="763" b="1" i="0">
                <a:solidFill>
                  <a:srgbClr val="C7D2FE"/>
                </a:solidFill>
                <a:latin typeface="Open Sans"/>
              </a:rPr>
              <a:t>Progress bar + success 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0608" y="3014587"/>
            <a:ext cx="9494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070707"/>
                </a:solidFill>
                <a:latin typeface="Inter 18pt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8028" y="3902175"/>
            <a:ext cx="110010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81" b="1" i="0">
                <a:solidFill>
                  <a:srgbClr val="E0E7FF"/>
                </a:solidFill>
                <a:latin typeface="Inter 18pt"/>
              </a:rPr>
              <a:t>Multi-Doc Query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2352" y="4148629"/>
            <a:ext cx="2131314" cy="335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11" b="0" i="0">
                <a:solidFill>
                  <a:srgbClr val="C7D2FE"/>
                </a:solidFill>
                <a:latin typeface="Open Sans"/>
              </a:rPr>
              <a:t>"Compare the main ideas across both documents"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56754" y="4578314"/>
            <a:ext cx="2182509" cy="203829"/>
          </a:xfrm>
          <a:prstGeom prst="rect">
            <a:avLst/>
          </a:prstGeom>
          <a:solidFill>
            <a:srgbClr val="312E81"/>
          </a:solidFill>
        </p:spPr>
        <p:txBody>
          <a:bodyPr wrap="none" lIns="76198" tIns="30479" rIns="76198" bIns="30479">
            <a:spAutoFit/>
          </a:bodyPr>
          <a:lstStyle/>
          <a:p>
            <a:pPr algn="ctr"/>
            <a:r>
              <a:rPr sz="763" b="1" i="0">
                <a:solidFill>
                  <a:srgbClr val="C7D2FE"/>
                </a:solidFill>
                <a:latin typeface="Open Sans"/>
              </a:rPr>
              <a:t>Cross-document synthesized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4796" y="3014587"/>
            <a:ext cx="9747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070707"/>
                </a:solidFill>
                <a:latin typeface="Inter 18pt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5122" y="3902175"/>
            <a:ext cx="73682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81" b="1" i="0">
                <a:solidFill>
                  <a:srgbClr val="E0E7FF"/>
                </a:solidFill>
                <a:latin typeface="Inter 18pt"/>
              </a:rPr>
              <a:t>Image Q&amp;A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8772" y="4148629"/>
            <a:ext cx="2129677" cy="335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11" b="0" i="0">
                <a:solidFill>
                  <a:srgbClr val="C7D2FE"/>
                </a:solidFill>
                <a:latin typeface="Open Sans"/>
              </a:rPr>
              <a:t>Upload an image in chat, ask "What is this?"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8932" y="4578314"/>
            <a:ext cx="1309208" cy="203829"/>
          </a:xfrm>
          <a:prstGeom prst="rect">
            <a:avLst/>
          </a:prstGeom>
          <a:solidFill>
            <a:srgbClr val="312E81"/>
          </a:solidFill>
        </p:spPr>
        <p:txBody>
          <a:bodyPr wrap="none" lIns="76198" tIns="30479" rIns="76198" bIns="30479">
            <a:spAutoFit/>
          </a:bodyPr>
          <a:lstStyle/>
          <a:p>
            <a:pPr algn="ctr"/>
            <a:r>
              <a:rPr sz="763" b="1" i="0">
                <a:solidFill>
                  <a:srgbClr val="C7D2FE"/>
                </a:solidFill>
                <a:latin typeface="Open Sans"/>
              </a:rPr>
              <a:t>GPT-4 Vision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87943" y="3014587"/>
            <a:ext cx="10239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070707"/>
                </a:solidFill>
                <a:latin typeface="Inter 18pt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07696" y="3902175"/>
            <a:ext cx="86288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81" b="1" i="0">
                <a:solidFill>
                  <a:srgbClr val="E0E7FF"/>
                </a:solidFill>
                <a:latin typeface="Inter 18pt"/>
              </a:rPr>
              <a:t>Voice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8332" y="4148629"/>
            <a:ext cx="244161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1" b="0" i="0">
                <a:solidFill>
                  <a:srgbClr val="C7D2FE"/>
                </a:solidFill>
                <a:latin typeface="Open Sans"/>
              </a:rPr>
              <a:t>Click the speaker icon to hear the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32828" y="4413863"/>
            <a:ext cx="1212621" cy="203829"/>
          </a:xfrm>
          <a:prstGeom prst="rect">
            <a:avLst/>
          </a:prstGeom>
          <a:solidFill>
            <a:srgbClr val="312E81"/>
          </a:solidFill>
        </p:spPr>
        <p:txBody>
          <a:bodyPr wrap="none" lIns="76198" tIns="30479" rIns="76198" bIns="30479">
            <a:spAutoFit/>
          </a:bodyPr>
          <a:lstStyle/>
          <a:p>
            <a:pPr algn="ctr"/>
            <a:r>
              <a:rPr sz="763" b="1" i="0">
                <a:solidFill>
                  <a:srgbClr val="C7D2FE"/>
                </a:solidFill>
                <a:latin typeface="Open Sans"/>
              </a:rPr>
              <a:t>Voice settings panel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0990" y="6457788"/>
            <a:ext cx="344736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736BEA"/>
                </a:solidFill>
                <a:latin typeface="Open Sans"/>
              </a:rPr>
              <a:t>Tata Technologies | Dr.Doc — Intelligent Document 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58437" y="6472075"/>
            <a:ext cx="35226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1" b="0" i="0">
                <a:solidFill>
                  <a:srgbClr val="736BEA"/>
                </a:solidFill>
                <a:latin typeface="Inter 18pt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81000" y="1274117"/>
            <a:ext cx="2164109" cy="5012382"/>
          </a:xfrm>
          <a:prstGeom prst="roundRect">
            <a:avLst>
              <a:gd name="adj" fmla="val 528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0525" y="1283642"/>
            <a:ext cx="2145059" cy="285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2925" y="1474142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827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508" y="1580812"/>
            <a:ext cx="193855" cy="2056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697509" y="1274117"/>
            <a:ext cx="2164109" cy="5012382"/>
          </a:xfrm>
          <a:prstGeom prst="roundRect">
            <a:avLst>
              <a:gd name="adj" fmla="val 528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07034" y="1283642"/>
            <a:ext cx="2145059" cy="28575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59434" y="1474142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A07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6083" y="1601380"/>
            <a:ext cx="205296" cy="1645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14019" y="1274117"/>
            <a:ext cx="2164109" cy="5012382"/>
          </a:xfrm>
          <a:prstGeom prst="roundRect">
            <a:avLst>
              <a:gd name="adj" fmla="val 528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3544" y="1283642"/>
            <a:ext cx="2145059" cy="2857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75944" y="1474142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528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2522" y="1611664"/>
            <a:ext cx="205675" cy="14397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30529" y="1274117"/>
            <a:ext cx="2164109" cy="5012382"/>
          </a:xfrm>
          <a:prstGeom prst="roundRect">
            <a:avLst>
              <a:gd name="adj" fmla="val 528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40054" y="1283642"/>
            <a:ext cx="2145059" cy="28575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92454" y="1474142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539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1828" y="1580812"/>
            <a:ext cx="179965" cy="20567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9647039" y="1274117"/>
            <a:ext cx="2164109" cy="5012382"/>
          </a:xfrm>
          <a:prstGeom prst="roundRect">
            <a:avLst>
              <a:gd name="adj" fmla="val 5281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56564" y="1283642"/>
            <a:ext cx="2145059" cy="28575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808964" y="1474142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A7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41135" y="1580812"/>
            <a:ext cx="154256" cy="2056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0990" y="304792"/>
            <a:ext cx="188024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8B8EF5"/>
                </a:solidFill>
                <a:latin typeface="Inter 18pt"/>
              </a:rPr>
              <a:t>Enterprise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90" y="468499"/>
            <a:ext cx="3688612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10" b="1" i="0">
                <a:solidFill>
                  <a:srgbClr val="E0E7FF"/>
                </a:solidFill>
                <a:latin typeface="Inter 18pt"/>
              </a:rPr>
              <a:t>Where Dr.Doc Delivers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564" y="883719"/>
            <a:ext cx="8630922" cy="190495"/>
          </a:xfrm>
          <a:prstGeom prst="rect">
            <a:avLst/>
          </a:prstGeom>
          <a:noFill/>
        </p:spPr>
        <p:txBody>
          <a:bodyPr wrap="none" lIns="114297" tIns="0" rIns="0" bIns="0">
            <a:spAutoFit/>
          </a:bodyPr>
          <a:lstStyle/>
          <a:p>
            <a:pPr algn="l"/>
            <a:r>
              <a:rPr sz="1082" b="0" i="0">
                <a:solidFill>
                  <a:srgbClr val="A5B4FC"/>
                </a:solidFill>
                <a:latin typeface="Open Sans"/>
              </a:rPr>
              <a:t>Any Tata Technologies business unit that works with documents can deploy Dr.Doc as an always-available knowledge assistant.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911" y="2022672"/>
            <a:ext cx="93431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A5B4FC"/>
                </a:solidFill>
                <a:latin typeface="Inter 18pt"/>
              </a:rPr>
              <a:t>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911" y="2251266"/>
            <a:ext cx="1702253" cy="7527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C7D2FE"/>
                </a:solidFill>
                <a:latin typeface="Open Sans"/>
              </a:rPr>
              <a:t>Analyze BOM data, CAD documentation, and design specifications across multiple files instantly.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9363" y="2022672"/>
            <a:ext cx="43754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D8B4FE"/>
                </a:solidFill>
                <a:latin typeface="Inter 18pt"/>
              </a:rPr>
              <a:t>Legal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9363" y="2251266"/>
            <a:ext cx="1823694" cy="7527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C7D2FE"/>
                </a:solidFill>
                <a:latin typeface="Open Sans"/>
              </a:rPr>
              <a:t>Compare contract clauses across multiple agreements to surface inconsistencies and key terms.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815" y="2022672"/>
            <a:ext cx="18960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7DD3FC"/>
                </a:solidFill>
                <a:latin typeface="Inter 18pt"/>
              </a:rPr>
              <a:t>HR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815" y="2251266"/>
            <a:ext cx="1669809" cy="7527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C7D2FE"/>
                </a:solidFill>
                <a:latin typeface="Open Sans"/>
              </a:rPr>
              <a:t>Query policy documents and employee handbooks for instant, accurate answers without manual searching.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2266" y="2022672"/>
            <a:ext cx="27785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6EE7B7"/>
                </a:solidFill>
                <a:latin typeface="Inter 18pt"/>
              </a:rPr>
              <a:t>R&amp;D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2266" y="2251266"/>
            <a:ext cx="1818931" cy="7527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C7D2FE"/>
                </a:solidFill>
                <a:latin typeface="Open Sans"/>
              </a:rPr>
              <a:t>Cross-reference research papers and technical reports to accelerate discovery and synthesis.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8718" y="2022672"/>
            <a:ext cx="60928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FDE68A"/>
                </a:solidFill>
                <a:latin typeface="Inter 18pt"/>
              </a:rPr>
              <a:t>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8718" y="2251266"/>
            <a:ext cx="1729041" cy="7527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C7D2FE"/>
                </a:solidFill>
                <a:latin typeface="Open Sans"/>
              </a:rPr>
              <a:t>Review audit reports and compliance documentation with natural language queries and citations.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990" y="6486362"/>
            <a:ext cx="356062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736BEA"/>
                </a:solidFill>
                <a:latin typeface="Open Sans"/>
              </a:rPr>
              <a:t>Dr.Doc — Intelligent Document Assistant | Deva Dharshan D (931033)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8476" y="6491125"/>
            <a:ext cx="10819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2" b="0" i="0">
                <a:solidFill>
                  <a:srgbClr val="736BEA"/>
                </a:solidFill>
                <a:latin typeface="Inter 18pt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3533" y="6491125"/>
            <a:ext cx="206717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2" b="0" i="0">
                <a:solidFill>
                  <a:srgbClr val="736BEA"/>
                </a:solidFill>
                <a:latin typeface="Inter 18pt"/>
              </a:rPr>
              <a:t>Tata Technologies | September 25,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000" y="947439"/>
            <a:ext cx="11430000" cy="360908"/>
          </a:xfrm>
          <a:prstGeom prst="rect">
            <a:avLst/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1000" y="947439"/>
            <a:ext cx="38100" cy="3609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1000" y="1475928"/>
            <a:ext cx="1797099" cy="4900166"/>
          </a:xfrm>
          <a:prstGeom prst="roundRect">
            <a:avLst>
              <a:gd name="adj" fmla="val 636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27595" y="1637853"/>
            <a:ext cx="342900" cy="342900"/>
          </a:xfrm>
          <a:prstGeom prst="ellipse">
            <a:avLst/>
          </a:prstGeom>
          <a:solidFill>
            <a:srgbClr val="828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740" y="1736929"/>
            <a:ext cx="126575" cy="1446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7595" y="6016228"/>
            <a:ext cx="626566" cy="197941"/>
          </a:xfrm>
          <a:prstGeom prst="roundRect">
            <a:avLst>
              <a:gd name="adj" fmla="val 50000"/>
            </a:avLst>
          </a:prstGeom>
          <a:solidFill>
            <a:srgbClr val="0F0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07580" y="1475928"/>
            <a:ext cx="1797099" cy="4900166"/>
          </a:xfrm>
          <a:prstGeom prst="roundRect">
            <a:avLst>
              <a:gd name="adj" fmla="val 636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454175" y="1637853"/>
            <a:ext cx="342900" cy="342900"/>
          </a:xfrm>
          <a:prstGeom prst="ellipse">
            <a:avLst/>
          </a:prstGeom>
          <a:solidFill>
            <a:srgbClr val="828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231" y="1755011"/>
            <a:ext cx="144657" cy="1084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454175" y="6016228"/>
            <a:ext cx="626566" cy="197941"/>
          </a:xfrm>
          <a:prstGeom prst="roundRect">
            <a:avLst>
              <a:gd name="adj" fmla="val 50000"/>
            </a:avLst>
          </a:prstGeom>
          <a:solidFill>
            <a:srgbClr val="0F0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34160" y="1475928"/>
            <a:ext cx="1797099" cy="4900166"/>
          </a:xfrm>
          <a:prstGeom prst="roundRect">
            <a:avLst>
              <a:gd name="adj" fmla="val 636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80755" y="1637853"/>
            <a:ext cx="342900" cy="342900"/>
          </a:xfrm>
          <a:prstGeom prst="ellipse">
            <a:avLst/>
          </a:prstGeom>
          <a:solidFill>
            <a:srgbClr val="828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9763" y="1751395"/>
            <a:ext cx="144657" cy="11572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380755" y="6016228"/>
            <a:ext cx="626566" cy="197941"/>
          </a:xfrm>
          <a:prstGeom prst="roundRect">
            <a:avLst>
              <a:gd name="adj" fmla="val 50000"/>
            </a:avLst>
          </a:prstGeom>
          <a:solidFill>
            <a:srgbClr val="0F0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60740" y="1475928"/>
            <a:ext cx="1797099" cy="4900166"/>
          </a:xfrm>
          <a:prstGeom prst="roundRect">
            <a:avLst>
              <a:gd name="adj" fmla="val 636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07335" y="1637853"/>
            <a:ext cx="342900" cy="342900"/>
          </a:xfrm>
          <a:prstGeom prst="ellipse">
            <a:avLst/>
          </a:prstGeom>
          <a:solidFill>
            <a:srgbClr val="828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295" y="1736929"/>
            <a:ext cx="144650" cy="14467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307335" y="6016228"/>
            <a:ext cx="626566" cy="197941"/>
          </a:xfrm>
          <a:prstGeom prst="roundRect">
            <a:avLst>
              <a:gd name="adj" fmla="val 50000"/>
            </a:avLst>
          </a:prstGeom>
          <a:solidFill>
            <a:srgbClr val="0F0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87320" y="1475928"/>
            <a:ext cx="1797099" cy="4900166"/>
          </a:xfrm>
          <a:prstGeom prst="roundRect">
            <a:avLst>
              <a:gd name="adj" fmla="val 636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33916" y="1637853"/>
            <a:ext cx="342900" cy="342900"/>
          </a:xfrm>
          <a:prstGeom prst="ellipse">
            <a:avLst/>
          </a:prstGeom>
          <a:solidFill>
            <a:srgbClr val="828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2827" y="1736929"/>
            <a:ext cx="144657" cy="144657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233916" y="6016228"/>
            <a:ext cx="626566" cy="197941"/>
          </a:xfrm>
          <a:prstGeom prst="roundRect">
            <a:avLst>
              <a:gd name="adj" fmla="val 50000"/>
            </a:avLst>
          </a:prstGeom>
          <a:solidFill>
            <a:srgbClr val="0F0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13900" y="1475928"/>
            <a:ext cx="1797099" cy="4900166"/>
          </a:xfrm>
          <a:prstGeom prst="roundRect">
            <a:avLst>
              <a:gd name="adj" fmla="val 636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160496" y="1637853"/>
            <a:ext cx="342900" cy="342900"/>
          </a:xfrm>
          <a:prstGeom prst="ellipse">
            <a:avLst/>
          </a:prstGeom>
          <a:solidFill>
            <a:srgbClr val="828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9358" y="1744966"/>
            <a:ext cx="144670" cy="1285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160496" y="6016228"/>
            <a:ext cx="626566" cy="197941"/>
          </a:xfrm>
          <a:prstGeom prst="roundRect">
            <a:avLst>
              <a:gd name="adj" fmla="val 50000"/>
            </a:avLst>
          </a:prstGeom>
          <a:solidFill>
            <a:srgbClr val="0F0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0990" y="304792"/>
            <a:ext cx="683848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696CF2"/>
                </a:solidFill>
                <a:latin typeface="Inter 18pt"/>
              </a:rPr>
              <a:t>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990" y="476238"/>
            <a:ext cx="1994246" cy="4000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1" b="1" i="0">
                <a:solidFill>
                  <a:srgbClr val="E0E7FF"/>
                </a:solidFill>
                <a:latin typeface="Inter 18pt"/>
              </a:rPr>
              <a:t>What's 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960" y="1015875"/>
            <a:ext cx="7538923" cy="1769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150" b="0" i="1" dirty="0">
                <a:solidFill>
                  <a:srgbClr val="C7D2FE"/>
                </a:solidFill>
                <a:latin typeface="Open Sans"/>
              </a:rPr>
              <a:t>The production roadmap transforms Dr.</a:t>
            </a:r>
            <a:r>
              <a:rPr lang="en-US" sz="1150" i="1" dirty="0">
                <a:solidFill>
                  <a:srgbClr val="C7D2FE"/>
                </a:solidFill>
                <a:latin typeface="Open Sans"/>
              </a:rPr>
              <a:t> </a:t>
            </a:r>
            <a:r>
              <a:rPr sz="1150" b="0" i="1" dirty="0">
                <a:solidFill>
                  <a:srgbClr val="C7D2FE"/>
                </a:solidFill>
                <a:latin typeface="Open Sans"/>
              </a:rPr>
              <a:t>Doc from a proof-of-concept into a scalable, multi-user enterprise platform.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852" y="1641681"/>
            <a:ext cx="614793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E0E7FF"/>
                </a:solidFill>
                <a:latin typeface="Inter 18pt"/>
              </a:rPr>
              <a:t>Database Backend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7582" y="2064492"/>
            <a:ext cx="1486160" cy="678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SQLite / PostgreSQL for production-grade persistence and structured session storage.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95" y="6048372"/>
            <a:ext cx="43992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818CF8"/>
                </a:solidFill>
                <a:latin typeface="Open Sans"/>
              </a:rPr>
              <a:t>Phase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8383" y="1641681"/>
            <a:ext cx="712571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E0E7FF"/>
                </a:solidFill>
                <a:latin typeface="Inter 18pt"/>
              </a:rPr>
              <a:t>Streaming Responses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54114" y="2064492"/>
            <a:ext cx="1503572" cy="678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Server-Sent Events for real-time token streaming — faster perceived response time.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427" y="6048372"/>
            <a:ext cx="43992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818CF8"/>
                </a:solidFill>
                <a:latin typeface="Open Sans"/>
              </a:rPr>
              <a:t>Phase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4915" y="1641681"/>
            <a:ext cx="694117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E0E7FF"/>
                </a:solidFill>
                <a:latin typeface="Inter 18pt"/>
              </a:rPr>
              <a:t>Multi-User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0646" y="2064492"/>
            <a:ext cx="1463836" cy="5065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Authentication and role-based access control for secure team deployments.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3959" y="6048372"/>
            <a:ext cx="43992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818CF8"/>
                </a:solidFill>
                <a:latin typeface="Open Sans"/>
              </a:rPr>
              <a:t>Phase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1447" y="1641681"/>
            <a:ext cx="847406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E0E7FF"/>
                </a:solidFill>
                <a:latin typeface="Inter 18pt"/>
              </a:rPr>
              <a:t>Chunk Inspection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7178" y="2064492"/>
            <a:ext cx="1171545" cy="678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Developer tool for debugging extraction quality and reviewing retrieved chunks.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491" y="6048372"/>
            <a:ext cx="43992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818CF8"/>
                </a:solidFill>
                <a:latin typeface="Open Sans"/>
              </a:rPr>
              <a:t>Phase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7979" y="1641681"/>
            <a:ext cx="961554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E0E7FF"/>
                </a:solidFill>
                <a:latin typeface="Inter 18pt"/>
              </a:rPr>
              <a:t>Rate Limiting &amp; Cost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33710" y="2064492"/>
            <a:ext cx="1455353" cy="678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API usage governance and cost visibility dashboard for enterprise management.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7022" y="6048372"/>
            <a:ext cx="43992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818CF8"/>
                </a:solidFill>
                <a:latin typeface="Open Sans"/>
              </a:rPr>
              <a:t>Phase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94511" y="1725470"/>
            <a:ext cx="96720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E0E7FF"/>
                </a:solidFill>
                <a:latin typeface="Inter 18pt"/>
              </a:rPr>
              <a:t>Export Reports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0241" y="2064492"/>
            <a:ext cx="1482439" cy="678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8" b="0" i="0">
                <a:solidFill>
                  <a:srgbClr val="C7D2FE"/>
                </a:solidFill>
                <a:latin typeface="Open Sans"/>
              </a:rPr>
              <a:t>Download chat sessions as PDF or DOCX reports for documentation and sharing.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3554" y="6048372"/>
            <a:ext cx="43992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818CF8"/>
                </a:solidFill>
                <a:latin typeface="Open Sans"/>
              </a:rPr>
              <a:t>Phase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0990" y="6467313"/>
            <a:ext cx="323276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0" i="0">
                <a:solidFill>
                  <a:srgbClr val="736BEA"/>
                </a:solidFill>
                <a:latin typeface="Open Sans"/>
              </a:rPr>
              <a:t>Tata Technologies | Dr.Doc — Intelligent Document Assistant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57841" y="6476837"/>
            <a:ext cx="35286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5" b="1" i="0">
                <a:solidFill>
                  <a:srgbClr val="736BEA"/>
                </a:solidFill>
                <a:latin typeface="Open San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895" y="1523961"/>
            <a:ext cx="3828954" cy="382895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876" y="2285942"/>
            <a:ext cx="2304992" cy="23049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24351" y="293489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73733" y="3935015"/>
            <a:ext cx="8644383" cy="76200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3027" y="4144565"/>
            <a:ext cx="9525" cy="3429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28195" y="4144565"/>
            <a:ext cx="9525" cy="3429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74135" y="4144565"/>
            <a:ext cx="9525" cy="3429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13608" y="4925615"/>
            <a:ext cx="1497657" cy="276225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9743" y="5006452"/>
            <a:ext cx="85722" cy="11429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25565" y="4925615"/>
            <a:ext cx="1612701" cy="276225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5232" y="5006452"/>
            <a:ext cx="78579" cy="11429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52567" y="4925615"/>
            <a:ext cx="1089421" cy="276225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4336" y="5019152"/>
            <a:ext cx="114307" cy="8889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456289" y="4925615"/>
            <a:ext cx="1821805" cy="276225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4373" y="5012807"/>
            <a:ext cx="101597" cy="10158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96709" y="2060473"/>
            <a:ext cx="3597978" cy="8858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240" b="1" i="0">
                <a:solidFill>
                  <a:srgbClr val="FFFFFF"/>
                </a:solidFill>
                <a:latin typeface="Inter 18pt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2776" y="3163411"/>
            <a:ext cx="4285845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64" b="1" i="0">
                <a:solidFill>
                  <a:srgbClr val="A5B4FC"/>
                </a:solidFill>
                <a:latin typeface="Inter 18pt"/>
              </a:rPr>
              <a:t>Dr.Doc — Your Intelligent Document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480" y="3449154"/>
            <a:ext cx="304643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5" b="0" i="0">
                <a:solidFill>
                  <a:srgbClr val="818CF8"/>
                </a:solidFill>
                <a:latin typeface="Open Sans"/>
              </a:rPr>
              <a:t>Built with Azure OpenAI  |  Tata Technologies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15558" y="4134937"/>
            <a:ext cx="89488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7577F3"/>
                </a:solidFill>
                <a:latin typeface="Open Sans"/>
              </a:rPr>
              <a:t>Presented 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4204" y="4315907"/>
            <a:ext cx="119773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36" b="1" i="0">
                <a:solidFill>
                  <a:srgbClr val="E0E7FF"/>
                </a:solidFill>
                <a:latin typeface="Inter 18pt"/>
              </a:rPr>
              <a:t>Deva Dharshan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448" y="4134937"/>
            <a:ext cx="81362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7577F3"/>
                </a:solidFill>
                <a:latin typeface="Open Sans"/>
              </a:rPr>
              <a:t>Employee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7518" y="4315907"/>
            <a:ext cx="365485" cy="1594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36" b="1" i="0" dirty="0" err="1">
                <a:solidFill>
                  <a:srgbClr val="E0E7FF"/>
                </a:solidFill>
                <a:latin typeface="Inter 18pt"/>
              </a:rPr>
              <a:t>xxxxxx</a:t>
            </a:r>
            <a:endParaRPr sz="1036" b="1" i="0" dirty="0">
              <a:solidFill>
                <a:srgbClr val="E0E7FF"/>
              </a:solidFill>
              <a:latin typeface="Inter 18p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79010" y="4134937"/>
            <a:ext cx="95351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7577F3"/>
                </a:solidFill>
                <a:latin typeface="Open Sans"/>
              </a:rPr>
              <a:t>Organization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8577" y="4315907"/>
            <a:ext cx="1274383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36" b="1" i="0">
                <a:solidFill>
                  <a:srgbClr val="E0E7FF"/>
                </a:solidFill>
                <a:latin typeface="Inter 18pt"/>
              </a:rPr>
              <a:t>Tata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1724" y="4134937"/>
            <a:ext cx="56836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85" b="1" i="0">
                <a:solidFill>
                  <a:srgbClr val="7577F3"/>
                </a:solidFill>
                <a:latin typeface="Open Sans"/>
              </a:rPr>
              <a:t>Contact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381" y="4315907"/>
            <a:ext cx="1845057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E0E7FF"/>
                </a:solidFill>
                <a:latin typeface="Inter 18pt"/>
              </a:rPr>
              <a:t>xxxxxxxx.x@tatatechnologies.com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246901" y="4982640"/>
            <a:ext cx="100233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4" b="0" i="0">
                <a:solidFill>
                  <a:srgbClr val="A5B4FC"/>
                </a:solidFill>
                <a:latin typeface="Open Sans"/>
              </a:rPr>
              <a:t>RAG-Powered Q&amp;A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8819" y="4982640"/>
            <a:ext cx="111737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4" b="0" i="0">
                <a:solidFill>
                  <a:srgbClr val="A5B4FC"/>
                </a:solidFill>
                <a:latin typeface="Open Sans"/>
              </a:rPr>
              <a:t>Voice Input &amp;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5777" y="4982640"/>
            <a:ext cx="59410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4" b="0" i="0">
                <a:solidFill>
                  <a:srgbClr val="A5B4FC"/>
                </a:solidFill>
                <a:latin typeface="Open Sans"/>
              </a:rPr>
              <a:t>Vision Q&amp;A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9469" y="4982640"/>
            <a:ext cx="132647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4" b="0" i="0">
                <a:solidFill>
                  <a:srgbClr val="A5B4FC"/>
                </a:solidFill>
                <a:latin typeface="Open Sans"/>
              </a:rPr>
              <a:t>Multi-Document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79133" y="6553036"/>
            <a:ext cx="30776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2" b="0" i="0">
                <a:solidFill>
                  <a:srgbClr val="6F68EA"/>
                </a:solidFill>
                <a:latin typeface="Inter 18pt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2315</Words>
  <Application>Microsoft Office PowerPoint</Application>
  <PresentationFormat>Widescreen</PresentationFormat>
  <Paragraphs>392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Open Sans</vt:lpstr>
      <vt:lpstr>Arial</vt:lpstr>
      <vt:lpstr>Inter 18pt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D, Deva Dharshan</dc:creator>
  <cp:keywords/>
  <dc:description>generated using python-pptx</dc:description>
  <cp:lastModifiedBy>Deva Dharshan D</cp:lastModifiedBy>
  <cp:revision>64</cp:revision>
  <dcterms:created xsi:type="dcterms:W3CDTF">2026-09-25T07:32:16Z</dcterms:created>
  <dcterms:modified xsi:type="dcterms:W3CDTF">2026-10-12T07:24:47Z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9eaf13-f528-470e-bf6b-38b666617431_Enabled">
    <vt:lpwstr>true</vt:lpwstr>
  </property>
  <property fmtid="{D5CDD505-2E9C-101B-9397-08002B2CF9AE}" pid="3" name="MSIP_Label_289eaf13-f528-470e-bf6b-38b666617431_SetDate">
    <vt:lpwstr>2026-10-12T07:24:16Z</vt:lpwstr>
  </property>
  <property fmtid="{D5CDD505-2E9C-101B-9397-08002B2CF9AE}" pid="4" name="MSIP_Label_289eaf13-f528-470e-bf6b-38b666617431_Method">
    <vt:lpwstr>Standard</vt:lpwstr>
  </property>
  <property fmtid="{D5CDD505-2E9C-101B-9397-08002B2CF9AE}" pid="5" name="MSIP_Label_289eaf13-f528-470e-bf6b-38b666617431_Name">
    <vt:lpwstr>Proprietary</vt:lpwstr>
  </property>
  <property fmtid="{D5CDD505-2E9C-101B-9397-08002B2CF9AE}" pid="6" name="MSIP_Label_289eaf13-f528-470e-bf6b-38b666617431_SiteId">
    <vt:lpwstr>4c087f80-1e07-4f72-9e41-d7d9748d0f4c</vt:lpwstr>
  </property>
  <property fmtid="{D5CDD505-2E9C-101B-9397-08002B2CF9AE}" pid="7" name="MSIP_Label_289eaf13-f528-470e-bf6b-38b666617431_ActionId">
    <vt:lpwstr>50084710-31cd-49d9-80b0-f410b8723940</vt:lpwstr>
  </property>
  <property fmtid="{D5CDD505-2E9C-101B-9397-08002B2CF9AE}" pid="8" name="MSIP_Label_289eaf13-f528-470e-bf6b-38b666617431_ContentBits">
    <vt:lpwstr>0</vt:lpwstr>
  </property>
  <property fmtid="{D5CDD505-2E9C-101B-9397-08002B2CF9AE}" pid="9" name="MSIP_Label_289eaf13-f528-470e-bf6b-38b666617431_Tag">
    <vt:lpwstr>10, 3, 0, 1</vt:lpwstr>
  </property>
</Properties>
</file>